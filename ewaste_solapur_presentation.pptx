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64748B"/>
                </a:solidFill>
                <a:latin typeface="Arial"/>
              </a:defRPr>
            </a:pPr>
            <a:r>
              <a:rPr sz="1000" b="0" i="0" u="none" strike="noStrike">
                <a:solidFill>
                  <a:srgbClr val="64748B"/>
                </a:solidFill>
                <a:latin typeface="Arial"/>
              </a:rPr>
              <a:t>Metal Recovery Rate (%) by Process — Source: Amusa et al. 2026; Pathak et al. 2021; Guo et al. 2015</a:t>
            </a:r>
          </a:p>
        </c:rich>
      </c:tx>
      <c:overlay val="0"/>
    </c:title>
    <c:autoTitleDeleted val="0"/>
    <c:plotArea>
      <c:layout/>
      <c:barChart>
        <c:barDir val="col"/>
        <c:grouping val="clustered"/>
        <c:varyColors val="0"/>
        <c:ser>
          <c:idx val="0"/>
          <c:order val="0"/>
          <c:tx>
            <c:strRef>
              <c:f>Sheet1!$B$1</c:f>
              <c:strCache>
                <c:ptCount val="1"/>
                <c:pt idx="0">
                  <c:v>Deep Eutectic Solvents</c:v>
                </c:pt>
              </c:strCache>
            </c:strRef>
          </c:tx>
          <c:spPr>
            <a:solidFill>
              <a:srgbClr val="1E2761"/>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Gold</c:v>
                </c:pt>
                <c:pt idx="1">
                  <c:v>Copper</c:v>
                </c:pt>
                <c:pt idx="2">
                  <c:v>Cobalt</c:v>
                </c:pt>
                <c:pt idx="3">
                  <c:v>Lithium</c:v>
                </c:pt>
                <c:pt idx="4">
                  <c:v>Silver</c:v>
                </c:pt>
              </c:strCache>
            </c:strRef>
          </c:cat>
          <c:val>
            <c:numRef>
              <c:f>Sheet1!$B$2:$B$6</c:f>
              <c:numCache>
                <c:formatCode>General</c:formatCode>
                <c:ptCount val="5"/>
                <c:pt idx="0">
                  <c:v>95</c:v>
                </c:pt>
                <c:pt idx="1">
                  <c:v>97</c:v>
                </c:pt>
                <c:pt idx="2">
                  <c:v>99.6</c:v>
                </c:pt>
                <c:pt idx="3">
                  <c:v>100</c:v>
                </c:pt>
                <c:pt idx="4">
                  <c:v>90</c:v>
                </c:pt>
              </c:numCache>
            </c:numRef>
          </c:val>
          <c:extLst>
            <c:ext xmlns:c16="http://schemas.microsoft.com/office/drawing/2014/chart" uri="{C3380CC4-5D6E-409C-BE32-E72D297353CC}">
              <c16:uniqueId val="{00000000-00C5-44FC-B281-90ED83BF9E79}"/>
            </c:ext>
          </c:extLst>
        </c:ser>
        <c:ser>
          <c:idx val="1"/>
          <c:order val="1"/>
          <c:tx>
            <c:strRef>
              <c:f>Sheet1!$C$1</c:f>
              <c:strCache>
                <c:ptCount val="1"/>
                <c:pt idx="0">
                  <c:v>Bioleaching (Fungal)</c:v>
                </c:pt>
              </c:strCache>
            </c:strRef>
          </c:tx>
          <c:spPr>
            <a:solidFill>
              <a:srgbClr val="4FC3F7"/>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Gold</c:v>
                </c:pt>
                <c:pt idx="1">
                  <c:v>Copper</c:v>
                </c:pt>
                <c:pt idx="2">
                  <c:v>Cobalt</c:v>
                </c:pt>
                <c:pt idx="3">
                  <c:v>Lithium</c:v>
                </c:pt>
                <c:pt idx="4">
                  <c:v>Silver</c:v>
                </c:pt>
              </c:strCache>
            </c:strRef>
          </c:cat>
          <c:val>
            <c:numRef>
              <c:f>Sheet1!$C$2:$C$6</c:f>
              <c:numCache>
                <c:formatCode>General</c:formatCode>
                <c:ptCount val="5"/>
                <c:pt idx="0">
                  <c:v>69</c:v>
                </c:pt>
                <c:pt idx="1">
                  <c:v>85</c:v>
                </c:pt>
                <c:pt idx="2">
                  <c:v>40</c:v>
                </c:pt>
                <c:pt idx="3">
                  <c:v>30</c:v>
                </c:pt>
                <c:pt idx="4">
                  <c:v>55</c:v>
                </c:pt>
              </c:numCache>
            </c:numRef>
          </c:val>
          <c:extLst>
            <c:ext xmlns:c16="http://schemas.microsoft.com/office/drawing/2014/chart" uri="{C3380CC4-5D6E-409C-BE32-E72D297353CC}">
              <c16:uniqueId val="{00000001-00C5-44FC-B281-90ED83BF9E79}"/>
            </c:ext>
          </c:extLst>
        </c:ser>
        <c:ser>
          <c:idx val="2"/>
          <c:order val="2"/>
          <c:tx>
            <c:strRef>
              <c:f>Sheet1!$D$1</c:f>
              <c:strCache>
                <c:ptCount val="1"/>
                <c:pt idx="0">
                  <c:v>Mechanochemical</c:v>
                </c:pt>
              </c:strCache>
            </c:strRef>
          </c:tx>
          <c:spPr>
            <a:solidFill>
              <a:srgbClr val="90CAF9"/>
            </a:solidFill>
            <a:effectLst/>
          </c:spPr>
          <c:invertIfNegative val="0"/>
          <c:dLbls>
            <c:numFmt formatCode="#,##0" sourceLinked="0"/>
            <c:spPr>
              <a:noFill/>
              <a:ln>
                <a:noFill/>
              </a:ln>
              <a:effectLst/>
            </c:spPr>
            <c:txPr>
              <a:bodyPr/>
              <a:lstStyle/>
              <a:p>
                <a:pPr>
                  <a:defRPr sz="12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Gold</c:v>
                </c:pt>
                <c:pt idx="1">
                  <c:v>Copper</c:v>
                </c:pt>
                <c:pt idx="2">
                  <c:v>Cobalt</c:v>
                </c:pt>
                <c:pt idx="3">
                  <c:v>Lithium</c:v>
                </c:pt>
                <c:pt idx="4">
                  <c:v>Silver</c:v>
                </c:pt>
              </c:strCache>
            </c:strRef>
          </c:cat>
          <c:val>
            <c:numRef>
              <c:f>Sheet1!$D$2:$D$6</c:f>
              <c:numCache>
                <c:formatCode>General</c:formatCode>
                <c:ptCount val="5"/>
                <c:pt idx="0">
                  <c:v>60</c:v>
                </c:pt>
                <c:pt idx="1">
                  <c:v>95</c:v>
                </c:pt>
                <c:pt idx="2">
                  <c:v>50</c:v>
                </c:pt>
                <c:pt idx="3">
                  <c:v>35</c:v>
                </c:pt>
                <c:pt idx="4">
                  <c:v>58</c:v>
                </c:pt>
              </c:numCache>
            </c:numRef>
          </c:val>
          <c:extLst>
            <c:ext xmlns:c16="http://schemas.microsoft.com/office/drawing/2014/chart" uri="{C3380CC4-5D6E-409C-BE32-E72D297353CC}">
              <c16:uniqueId val="{00000002-00C5-44FC-B281-90ED83BF9E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sz="1200" b="0" i="0" u="none" strike="noStrike">
                <a:solidFill>
                  <a:srgbClr val="1A1A2E"/>
                </a:solidFill>
                <a:latin typeface="Arial"/>
              </a:rPr>
              <a:t>Typical PCB Material Composition by Mass</a:t>
            </a:r>
          </a:p>
        </c:rich>
      </c:tx>
      <c:overlay val="0"/>
    </c:title>
    <c:autoTitleDeleted val="0"/>
    <c:plotArea>
      <c:layout/>
      <c:pieChart>
        <c:varyColors val="1"/>
        <c:ser>
          <c:idx val="0"/>
          <c:order val="0"/>
          <c:tx>
            <c:strRef>
              <c:f>Sheet1!$B$1</c:f>
              <c:strCache>
                <c:ptCount val="1"/>
                <c:pt idx="0">
                  <c:v>PCB Composition</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8720-4169-BF5C-594BFEA93DE9}"/>
              </c:ext>
            </c:extLst>
          </c:dPt>
          <c:dPt>
            <c:idx val="1"/>
            <c:bubble3D val="0"/>
            <c:spPr>
              <a:solidFill>
                <a:srgbClr val="4FC3F7"/>
              </a:solidFill>
              <a:effectLst/>
            </c:spPr>
            <c:extLst>
              <c:ext xmlns:c16="http://schemas.microsoft.com/office/drawing/2014/chart" uri="{C3380CC4-5D6E-409C-BE32-E72D297353CC}">
                <c16:uniqueId val="{00000003-8720-4169-BF5C-594BFEA93DE9}"/>
              </c:ext>
            </c:extLst>
          </c:dPt>
          <c:dPt>
            <c:idx val="2"/>
            <c:bubble3D val="0"/>
            <c:spPr>
              <a:solidFill>
                <a:srgbClr val="90CAF9"/>
              </a:solidFill>
              <a:effectLst/>
            </c:spPr>
            <c:extLst>
              <c:ext xmlns:c16="http://schemas.microsoft.com/office/drawing/2014/chart" uri="{C3380CC4-5D6E-409C-BE32-E72D297353CC}">
                <c16:uniqueId val="{00000005-8720-4169-BF5C-594BFEA93DE9}"/>
              </c:ext>
            </c:extLst>
          </c:dPt>
          <c:dPt>
            <c:idx val="3"/>
            <c:bubble3D val="0"/>
            <c:spPr>
              <a:solidFill>
                <a:srgbClr val="0D47A1"/>
              </a:solidFill>
              <a:effectLst/>
            </c:spPr>
            <c:extLst>
              <c:ext xmlns:c16="http://schemas.microsoft.com/office/drawing/2014/chart" uri="{C3380CC4-5D6E-409C-BE32-E72D297353CC}">
                <c16:uniqueId val="{00000007-8720-4169-BF5C-594BFEA93DE9}"/>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720-4169-BF5C-594BFEA93DE9}"/>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720-4169-BF5C-594BFEA93DE9}"/>
                </c:ext>
              </c:extLst>
            </c:dLbl>
            <c:dLbl>
              <c:idx val="2"/>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720-4169-BF5C-594BFEA93DE9}"/>
                </c:ext>
              </c:extLst>
            </c:dLbl>
            <c:dLbl>
              <c:idx val="3"/>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720-4169-BF5C-594BFEA93DE9}"/>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Metals (Cu, Au, Ag, Pd)</c:v>
                </c:pt>
                <c:pt idx="1">
                  <c:v>Glass Fibre</c:v>
                </c:pt>
                <c:pt idx="2">
                  <c:v>Thermoset Resin</c:v>
                </c:pt>
                <c:pt idx="3">
                  <c:v>Other Polymers</c:v>
                </c:pt>
              </c:strCache>
            </c:strRef>
          </c:cat>
          <c:val>
            <c:numRef>
              <c:f>Sheet1!$B$2:$B$5</c:f>
              <c:numCache>
                <c:formatCode>General</c:formatCode>
                <c:ptCount val="4"/>
                <c:pt idx="0">
                  <c:v>28</c:v>
                </c:pt>
                <c:pt idx="1">
                  <c:v>30</c:v>
                </c:pt>
                <c:pt idx="2">
                  <c:v>25</c:v>
                </c:pt>
                <c:pt idx="3">
                  <c:v>17</c:v>
                </c:pt>
              </c:numCache>
            </c:numRef>
          </c:val>
          <c:extLst>
            <c:ext xmlns:c16="http://schemas.microsoft.com/office/drawing/2014/chart" uri="{C3380CC4-5D6E-409C-BE32-E72D297353CC}">
              <c16:uniqueId val="{00000008-8720-4169-BF5C-594BFEA93DE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922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C3F7"/>
          </a:solidFill>
          <a:ln w="12700">
            <a:solidFill>
              <a:srgbClr val="4FC3F7"/>
            </a:solidFill>
            <a:prstDash val="solid"/>
          </a:ln>
        </p:spPr>
      </p:sp>
      <p:sp>
        <p:nvSpPr>
          <p:cNvPr id="3" name="Text 1"/>
          <p:cNvSpPr/>
          <p:nvPr/>
        </p:nvSpPr>
        <p:spPr>
          <a:xfrm>
            <a:off x="548640" y="822960"/>
            <a:ext cx="8046720" cy="1463040"/>
          </a:xfrm>
          <a:prstGeom prst="rect">
            <a:avLst/>
          </a:prstGeom>
          <a:noFill/>
          <a:ln/>
        </p:spPr>
        <p:txBody>
          <a:bodyPr wrap="square" rtlCol="0" anchor="ctr"/>
          <a:lstStyle/>
          <a:p>
            <a:pPr marL="0" indent="0" algn="ctr">
              <a:buNone/>
            </a:pPr>
            <a:r>
              <a:rPr lang="en-US" sz="4000" b="1">
                <a:solidFill>
                  <a:srgbClr val="FFFFFF"/>
                </a:solidFill>
                <a:latin typeface="Cambria" pitchFamily="34" charset="0"/>
                <a:ea typeface="Cambria" pitchFamily="34" charset="-122"/>
                <a:cs typeface="Cambria" pitchFamily="34" charset="-120"/>
              </a:rPr>
              <a:t>Safer </a:t>
            </a:r>
            <a:r>
              <a:rPr lang="en-US" sz="4000" b="1" dirty="0">
                <a:solidFill>
                  <a:srgbClr val="FFFFFF"/>
                </a:solidFill>
                <a:latin typeface="Cambria" pitchFamily="34" charset="0"/>
                <a:ea typeface="Cambria" pitchFamily="34" charset="-122"/>
                <a:cs typeface="Cambria" pitchFamily="34" charset="-120"/>
              </a:rPr>
              <a:t>E-Waste Dismantling in Solapur</a:t>
            </a:r>
            <a:endParaRPr lang="en-US" sz="4000" dirty="0"/>
          </a:p>
        </p:txBody>
      </p:sp>
      <p:sp>
        <p:nvSpPr>
          <p:cNvPr id="4" name="Text 2"/>
          <p:cNvSpPr/>
          <p:nvPr/>
        </p:nvSpPr>
        <p:spPr>
          <a:xfrm>
            <a:off x="548640" y="2286000"/>
            <a:ext cx="8046720" cy="822960"/>
          </a:xfrm>
          <a:prstGeom prst="rect">
            <a:avLst/>
          </a:prstGeom>
          <a:noFill/>
          <a:ln/>
        </p:spPr>
        <p:txBody>
          <a:bodyPr wrap="square" rtlCol="0" anchor="ctr"/>
          <a:lstStyle/>
          <a:p>
            <a:pPr marL="0" indent="0" algn="ctr">
              <a:buNone/>
            </a:pPr>
            <a:r>
              <a:rPr lang="en-US" sz="1800" i="1" dirty="0">
                <a:solidFill>
                  <a:srgbClr val="4FC3F7"/>
                </a:solidFill>
                <a:latin typeface="Calibri" pitchFamily="34" charset="0"/>
                <a:ea typeface="Calibri" pitchFamily="34" charset="-122"/>
                <a:cs typeface="Calibri" pitchFamily="34" charset="-120"/>
              </a:rPr>
              <a:t>A Review of Benign Solvents, Less Hazardous Synthesis Methods,</a:t>
            </a:r>
            <a:endParaRPr lang="en-US" sz="1800" dirty="0"/>
          </a:p>
          <a:p>
            <a:pPr marL="0" indent="0" algn="ctr">
              <a:buNone/>
            </a:pPr>
            <a:r>
              <a:rPr lang="en-US" sz="1800" i="1" dirty="0">
                <a:solidFill>
                  <a:srgbClr val="4FC3F7"/>
                </a:solidFill>
                <a:latin typeface="Calibri" pitchFamily="34" charset="0"/>
                <a:ea typeface="Calibri" pitchFamily="34" charset="-122"/>
                <a:cs typeface="Calibri" pitchFamily="34" charset="-120"/>
              </a:rPr>
              <a:t>and Design for Degradation Principles </a:t>
            </a:r>
          </a:p>
        </p:txBody>
      </p:sp>
      <p:sp>
        <p:nvSpPr>
          <p:cNvPr id="5" name="Shape 3"/>
          <p:cNvSpPr/>
          <p:nvPr/>
        </p:nvSpPr>
        <p:spPr>
          <a:xfrm>
            <a:off x="3200400" y="3218688"/>
            <a:ext cx="2743200" cy="36576"/>
          </a:xfrm>
          <a:prstGeom prst="rect">
            <a:avLst/>
          </a:prstGeom>
          <a:solidFill>
            <a:srgbClr val="4FC3F7"/>
          </a:solidFill>
          <a:ln w="12700">
            <a:solidFill>
              <a:srgbClr val="4FC3F7"/>
            </a:solidFill>
            <a:prstDash val="solid"/>
          </a:ln>
        </p:spPr>
      </p:sp>
      <p:sp>
        <p:nvSpPr>
          <p:cNvPr id="6" name="Text 4"/>
          <p:cNvSpPr/>
          <p:nvPr/>
        </p:nvSpPr>
        <p:spPr>
          <a:xfrm>
            <a:off x="548640" y="3337560"/>
            <a:ext cx="8046720" cy="118872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Applied Chemistry for Engineers (AS-1201)</a:t>
            </a:r>
            <a:endParaRPr lang="en-US" sz="1500" dirty="0"/>
          </a:p>
          <a:p>
            <a:pPr marL="0" indent="0" algn="ctr">
              <a:buNone/>
            </a:pPr>
            <a:r>
              <a:rPr lang="en-US" sz="1500" dirty="0">
                <a:solidFill>
                  <a:srgbClr val="CADCFC"/>
                </a:solidFill>
                <a:latin typeface="Calibri" pitchFamily="34" charset="0"/>
                <a:ea typeface="Calibri" pitchFamily="34" charset="-122"/>
                <a:cs typeface="Calibri" pitchFamily="34" charset="-120"/>
              </a:rPr>
              <a:t>B.Tech CSE-AIML | Solapur, Maharashtra, India</a:t>
            </a:r>
            <a:endParaRPr lang="en-US" sz="1500" dirty="0"/>
          </a:p>
          <a:p>
            <a:pPr marL="0" indent="0" algn="ctr">
              <a:buNone/>
            </a:pPr>
            <a:r>
              <a:rPr lang="en-US" sz="1500" dirty="0">
                <a:solidFill>
                  <a:srgbClr val="CADCFC"/>
                </a:solidFill>
                <a:latin typeface="Calibri" pitchFamily="34" charset="0"/>
                <a:ea typeface="Calibri" pitchFamily="34" charset="-122"/>
                <a:cs typeface="Calibri" pitchFamily="34" charset="-120"/>
              </a:rPr>
              <a:t>13 march 2026</a:t>
            </a:r>
          </a:p>
          <a:p>
            <a:pPr marL="0" indent="0" algn="ctr">
              <a:buNone/>
            </a:pPr>
            <a:r>
              <a:rPr lang="en-US" sz="1500" dirty="0">
                <a:solidFill>
                  <a:srgbClr val="CADCFC"/>
                </a:solidFill>
                <a:latin typeface="Calibri" pitchFamily="34" charset="0"/>
                <a:ea typeface="Calibri" pitchFamily="34" charset="-122"/>
                <a:cs typeface="Calibri" pitchFamily="34" charset="-120"/>
              </a:rPr>
              <a:t>Gafur </a:t>
            </a:r>
            <a:r>
              <a:rPr lang="en-US" sz="1500" dirty="0" err="1">
                <a:solidFill>
                  <a:srgbClr val="CADCFC"/>
                </a:solidFill>
                <a:latin typeface="Calibri" pitchFamily="34" charset="0"/>
                <a:ea typeface="Calibri" pitchFamily="34" charset="-122"/>
                <a:cs typeface="Calibri" pitchFamily="34" charset="-120"/>
              </a:rPr>
              <a:t>Subhedar</a:t>
            </a:r>
            <a:r>
              <a:rPr lang="en-US" sz="1500" dirty="0">
                <a:solidFill>
                  <a:srgbClr val="CADCFC"/>
                </a:solidFill>
                <a:latin typeface="Calibri" pitchFamily="34" charset="0"/>
                <a:ea typeface="Calibri" pitchFamily="34" charset="-122"/>
                <a:cs typeface="Calibri" pitchFamily="34" charset="-120"/>
              </a:rPr>
              <a:t>,</a:t>
            </a:r>
          </a:p>
          <a:p>
            <a:pPr marL="0" indent="0" algn="ctr">
              <a:buNone/>
            </a:pPr>
            <a:r>
              <a:rPr lang="en-US" sz="1500" dirty="0">
                <a:solidFill>
                  <a:srgbClr val="CADCFC"/>
                </a:solidFill>
                <a:latin typeface="Calibri" pitchFamily="34" charset="0"/>
                <a:ea typeface="Calibri" pitchFamily="34" charset="-122"/>
                <a:cs typeface="Calibri" pitchFamily="34" charset="-120"/>
              </a:rPr>
              <a:t>Sudarshan Bhadule,</a:t>
            </a:r>
          </a:p>
          <a:p>
            <a:pPr marL="0" indent="0" algn="ctr">
              <a:buNone/>
            </a:pPr>
            <a:r>
              <a:rPr lang="en-US" sz="1500" dirty="0" err="1">
                <a:solidFill>
                  <a:srgbClr val="CADCFC"/>
                </a:solidFill>
                <a:latin typeface="Calibri" pitchFamily="34" charset="0"/>
                <a:ea typeface="Calibri" pitchFamily="34" charset="-122"/>
                <a:cs typeface="Calibri" pitchFamily="34" charset="-120"/>
              </a:rPr>
              <a:t>vishvajit</a:t>
            </a:r>
            <a:r>
              <a:rPr lang="en-US" sz="1500" dirty="0">
                <a:solidFill>
                  <a:srgbClr val="CADCFC"/>
                </a:solidFill>
                <a:latin typeface="Calibri" pitchFamily="34" charset="0"/>
                <a:ea typeface="Calibri" pitchFamily="34" charset="-122"/>
                <a:cs typeface="Calibri" pitchFamily="34" charset="-120"/>
              </a:rPr>
              <a:t> </a:t>
            </a:r>
            <a:r>
              <a:rPr lang="en-US" sz="1500" dirty="0" err="1">
                <a:solidFill>
                  <a:srgbClr val="CADCFC"/>
                </a:solidFill>
                <a:latin typeface="Calibri" pitchFamily="34" charset="0"/>
                <a:ea typeface="Calibri" pitchFamily="34" charset="-122"/>
                <a:cs typeface="Calibri" pitchFamily="34" charset="-120"/>
              </a:rPr>
              <a:t>shinde</a:t>
            </a:r>
            <a:endParaRPr lang="en-US" sz="1500" dirty="0"/>
          </a:p>
        </p:txBody>
      </p:sp>
      <p:sp>
        <p:nvSpPr>
          <p:cNvPr id="7" name="Shape 5"/>
          <p:cNvSpPr/>
          <p:nvPr/>
        </p:nvSpPr>
        <p:spPr>
          <a:xfrm>
            <a:off x="0" y="5065776"/>
            <a:ext cx="9144000" cy="77724"/>
          </a:xfrm>
          <a:prstGeom prst="rect">
            <a:avLst/>
          </a:prstGeom>
          <a:solidFill>
            <a:srgbClr val="4FC3F7"/>
          </a:solidFill>
          <a:ln w="12700">
            <a:solidFill>
              <a:srgbClr val="4FC3F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457200" y="941832"/>
            <a:ext cx="347472" cy="347472"/>
          </a:xfrm>
          <a:prstGeom prst="ellipse">
            <a:avLst/>
          </a:prstGeom>
          <a:solidFill>
            <a:srgbClr val="1E2761"/>
          </a:solidFill>
          <a:ln w="12700">
            <a:solidFill>
              <a:srgbClr val="1E2761"/>
            </a:solidFill>
            <a:prstDash val="solid"/>
          </a:ln>
        </p:spPr>
      </p:sp>
      <p:sp>
        <p:nvSpPr>
          <p:cNvPr id="4" name="Text 2"/>
          <p:cNvSpPr/>
          <p:nvPr/>
        </p:nvSpPr>
        <p:spPr>
          <a:xfrm>
            <a:off x="457200" y="94183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5" name="Text 3"/>
          <p:cNvSpPr/>
          <p:nvPr/>
        </p:nvSpPr>
        <p:spPr>
          <a:xfrm>
            <a:off x="868680" y="97840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Introduction &amp; Research Problem</a:t>
            </a:r>
            <a:endParaRPr lang="en-US" sz="1400" dirty="0"/>
          </a:p>
        </p:txBody>
      </p:sp>
      <p:sp>
        <p:nvSpPr>
          <p:cNvPr id="6" name="Shape 4"/>
          <p:cNvSpPr/>
          <p:nvPr/>
        </p:nvSpPr>
        <p:spPr>
          <a:xfrm>
            <a:off x="457200" y="1444752"/>
            <a:ext cx="347472" cy="347472"/>
          </a:xfrm>
          <a:prstGeom prst="ellipse">
            <a:avLst/>
          </a:prstGeom>
          <a:solidFill>
            <a:srgbClr val="1E2761"/>
          </a:solidFill>
          <a:ln w="12700">
            <a:solidFill>
              <a:srgbClr val="1E2761"/>
            </a:solidFill>
            <a:prstDash val="solid"/>
          </a:ln>
        </p:spPr>
      </p:sp>
      <p:sp>
        <p:nvSpPr>
          <p:cNvPr id="7" name="Text 5"/>
          <p:cNvSpPr/>
          <p:nvPr/>
        </p:nvSpPr>
        <p:spPr>
          <a:xfrm>
            <a:off x="457200" y="144475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8" name="Text 6"/>
          <p:cNvSpPr/>
          <p:nvPr/>
        </p:nvSpPr>
        <p:spPr>
          <a:xfrm>
            <a:off x="868680" y="148132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Literature Review &amp; Background</a:t>
            </a:r>
            <a:endParaRPr lang="en-US" sz="1400" dirty="0"/>
          </a:p>
        </p:txBody>
      </p:sp>
      <p:sp>
        <p:nvSpPr>
          <p:cNvPr id="9" name="Shape 7"/>
          <p:cNvSpPr/>
          <p:nvPr/>
        </p:nvSpPr>
        <p:spPr>
          <a:xfrm>
            <a:off x="457200" y="1947672"/>
            <a:ext cx="347472" cy="347472"/>
          </a:xfrm>
          <a:prstGeom prst="ellipse">
            <a:avLst/>
          </a:prstGeom>
          <a:solidFill>
            <a:srgbClr val="1E2761"/>
          </a:solidFill>
          <a:ln w="12700">
            <a:solidFill>
              <a:srgbClr val="1E2761"/>
            </a:solidFill>
            <a:prstDash val="solid"/>
          </a:ln>
        </p:spPr>
      </p:sp>
      <p:sp>
        <p:nvSpPr>
          <p:cNvPr id="10" name="Text 8"/>
          <p:cNvSpPr/>
          <p:nvPr/>
        </p:nvSpPr>
        <p:spPr>
          <a:xfrm>
            <a:off x="457200" y="194767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1" name="Text 9"/>
          <p:cNvSpPr/>
          <p:nvPr/>
        </p:nvSpPr>
        <p:spPr>
          <a:xfrm>
            <a:off x="868680" y="198424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Methodology</a:t>
            </a:r>
            <a:endParaRPr lang="en-US" sz="1400" dirty="0"/>
          </a:p>
        </p:txBody>
      </p:sp>
      <p:sp>
        <p:nvSpPr>
          <p:cNvPr id="12" name="Shape 10"/>
          <p:cNvSpPr/>
          <p:nvPr/>
        </p:nvSpPr>
        <p:spPr>
          <a:xfrm>
            <a:off x="457200" y="2450592"/>
            <a:ext cx="347472" cy="347472"/>
          </a:xfrm>
          <a:prstGeom prst="ellipse">
            <a:avLst/>
          </a:prstGeom>
          <a:solidFill>
            <a:srgbClr val="1E2761"/>
          </a:solidFill>
          <a:ln w="12700">
            <a:solidFill>
              <a:srgbClr val="1E2761"/>
            </a:solidFill>
            <a:prstDash val="solid"/>
          </a:ln>
        </p:spPr>
      </p:sp>
      <p:sp>
        <p:nvSpPr>
          <p:cNvPr id="13" name="Text 11"/>
          <p:cNvSpPr/>
          <p:nvPr/>
        </p:nvSpPr>
        <p:spPr>
          <a:xfrm>
            <a:off x="457200" y="245059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4" name="Text 12"/>
          <p:cNvSpPr/>
          <p:nvPr/>
        </p:nvSpPr>
        <p:spPr>
          <a:xfrm>
            <a:off x="868680" y="248716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Results: Metal Recovery Efficiency</a:t>
            </a:r>
            <a:endParaRPr lang="en-US" sz="1400" dirty="0"/>
          </a:p>
        </p:txBody>
      </p:sp>
      <p:sp>
        <p:nvSpPr>
          <p:cNvPr id="15" name="Shape 13"/>
          <p:cNvSpPr/>
          <p:nvPr/>
        </p:nvSpPr>
        <p:spPr>
          <a:xfrm>
            <a:off x="457200" y="2953512"/>
            <a:ext cx="347472" cy="347472"/>
          </a:xfrm>
          <a:prstGeom prst="ellipse">
            <a:avLst/>
          </a:prstGeom>
          <a:solidFill>
            <a:srgbClr val="1E2761"/>
          </a:solidFill>
          <a:ln w="12700">
            <a:solidFill>
              <a:srgbClr val="1E2761"/>
            </a:solidFill>
            <a:prstDash val="solid"/>
          </a:ln>
        </p:spPr>
      </p:sp>
      <p:sp>
        <p:nvSpPr>
          <p:cNvPr id="16" name="Text 14"/>
          <p:cNvSpPr/>
          <p:nvPr/>
        </p:nvSpPr>
        <p:spPr>
          <a:xfrm>
            <a:off x="457200" y="295351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17" name="Text 15"/>
          <p:cNvSpPr/>
          <p:nvPr/>
        </p:nvSpPr>
        <p:spPr>
          <a:xfrm>
            <a:off x="868680" y="299008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Results: Comparative Analysis</a:t>
            </a:r>
            <a:endParaRPr lang="en-US" sz="1400" dirty="0"/>
          </a:p>
        </p:txBody>
      </p:sp>
      <p:sp>
        <p:nvSpPr>
          <p:cNvPr id="18" name="Shape 16"/>
          <p:cNvSpPr/>
          <p:nvPr/>
        </p:nvSpPr>
        <p:spPr>
          <a:xfrm>
            <a:off x="4846320" y="941832"/>
            <a:ext cx="347472" cy="347472"/>
          </a:xfrm>
          <a:prstGeom prst="ellipse">
            <a:avLst/>
          </a:prstGeom>
          <a:solidFill>
            <a:srgbClr val="1E2761"/>
          </a:solidFill>
          <a:ln w="12700">
            <a:solidFill>
              <a:srgbClr val="1E2761"/>
            </a:solidFill>
            <a:prstDash val="solid"/>
          </a:ln>
        </p:spPr>
      </p:sp>
      <p:sp>
        <p:nvSpPr>
          <p:cNvPr id="19" name="Text 17"/>
          <p:cNvSpPr/>
          <p:nvPr/>
        </p:nvSpPr>
        <p:spPr>
          <a:xfrm>
            <a:off x="4846320" y="94183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0" name="Text 18"/>
          <p:cNvSpPr/>
          <p:nvPr/>
        </p:nvSpPr>
        <p:spPr>
          <a:xfrm>
            <a:off x="5257800" y="97840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Data Table: Key Studies</a:t>
            </a:r>
            <a:endParaRPr lang="en-US" sz="1400" dirty="0"/>
          </a:p>
        </p:txBody>
      </p:sp>
      <p:sp>
        <p:nvSpPr>
          <p:cNvPr id="21" name="Shape 19"/>
          <p:cNvSpPr/>
          <p:nvPr/>
        </p:nvSpPr>
        <p:spPr>
          <a:xfrm>
            <a:off x="4846320" y="1444752"/>
            <a:ext cx="347472" cy="347472"/>
          </a:xfrm>
          <a:prstGeom prst="ellipse">
            <a:avLst/>
          </a:prstGeom>
          <a:solidFill>
            <a:srgbClr val="1E2761"/>
          </a:solidFill>
          <a:ln w="12700">
            <a:solidFill>
              <a:srgbClr val="1E2761"/>
            </a:solidFill>
            <a:prstDash val="solid"/>
          </a:ln>
        </p:spPr>
      </p:sp>
      <p:sp>
        <p:nvSpPr>
          <p:cNvPr id="22" name="Text 20"/>
          <p:cNvSpPr/>
          <p:nvPr/>
        </p:nvSpPr>
        <p:spPr>
          <a:xfrm>
            <a:off x="4846320" y="144475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23" name="Text 21"/>
          <p:cNvSpPr/>
          <p:nvPr/>
        </p:nvSpPr>
        <p:spPr>
          <a:xfrm>
            <a:off x="5257800" y="148132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Discussion &amp; Analysis</a:t>
            </a:r>
            <a:endParaRPr lang="en-US" sz="1400" dirty="0"/>
          </a:p>
        </p:txBody>
      </p:sp>
      <p:sp>
        <p:nvSpPr>
          <p:cNvPr id="24" name="Shape 22"/>
          <p:cNvSpPr/>
          <p:nvPr/>
        </p:nvSpPr>
        <p:spPr>
          <a:xfrm>
            <a:off x="4846320" y="1947672"/>
            <a:ext cx="347472" cy="347472"/>
          </a:xfrm>
          <a:prstGeom prst="ellipse">
            <a:avLst/>
          </a:prstGeom>
          <a:solidFill>
            <a:srgbClr val="1E2761"/>
          </a:solidFill>
          <a:ln w="12700">
            <a:solidFill>
              <a:srgbClr val="1E2761"/>
            </a:solidFill>
            <a:prstDash val="solid"/>
          </a:ln>
        </p:spPr>
      </p:sp>
      <p:sp>
        <p:nvSpPr>
          <p:cNvPr id="25" name="Text 23"/>
          <p:cNvSpPr/>
          <p:nvPr/>
        </p:nvSpPr>
        <p:spPr>
          <a:xfrm>
            <a:off x="4846320" y="194767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26" name="Text 24"/>
          <p:cNvSpPr/>
          <p:nvPr/>
        </p:nvSpPr>
        <p:spPr>
          <a:xfrm>
            <a:off x="5257800" y="198424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Conclusion</a:t>
            </a:r>
            <a:endParaRPr lang="en-US" sz="1400" dirty="0"/>
          </a:p>
        </p:txBody>
      </p:sp>
      <p:sp>
        <p:nvSpPr>
          <p:cNvPr id="27" name="Shape 25"/>
          <p:cNvSpPr/>
          <p:nvPr/>
        </p:nvSpPr>
        <p:spPr>
          <a:xfrm>
            <a:off x="4846320" y="2450592"/>
            <a:ext cx="347472" cy="347472"/>
          </a:xfrm>
          <a:prstGeom prst="ellipse">
            <a:avLst/>
          </a:prstGeom>
          <a:solidFill>
            <a:srgbClr val="1E2761"/>
          </a:solidFill>
          <a:ln w="12700">
            <a:solidFill>
              <a:srgbClr val="1E2761"/>
            </a:solidFill>
            <a:prstDash val="solid"/>
          </a:ln>
        </p:spPr>
      </p:sp>
      <p:sp>
        <p:nvSpPr>
          <p:cNvPr id="28" name="Text 26"/>
          <p:cNvSpPr/>
          <p:nvPr/>
        </p:nvSpPr>
        <p:spPr>
          <a:xfrm>
            <a:off x="4846320" y="245059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29" name="Text 27"/>
          <p:cNvSpPr/>
          <p:nvPr/>
        </p:nvSpPr>
        <p:spPr>
          <a:xfrm>
            <a:off x="5257800" y="2487168"/>
            <a:ext cx="3931920" cy="2743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References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Introduction &amp; Research Problem</a:t>
            </a:r>
            <a:endParaRPr lang="en-US" sz="3000" dirty="0"/>
          </a:p>
        </p:txBody>
      </p:sp>
      <p:sp>
        <p:nvSpPr>
          <p:cNvPr id="3" name="Shape 1"/>
          <p:cNvSpPr/>
          <p:nvPr/>
        </p:nvSpPr>
        <p:spPr>
          <a:xfrm>
            <a:off x="457200" y="822960"/>
            <a:ext cx="3931920" cy="2560320"/>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4" name="Text 2"/>
          <p:cNvSpPr/>
          <p:nvPr/>
        </p:nvSpPr>
        <p:spPr>
          <a:xfrm>
            <a:off x="594360" y="896112"/>
            <a:ext cx="3657600" cy="2377440"/>
          </a:xfrm>
          <a:prstGeom prst="rect">
            <a:avLst/>
          </a:prstGeom>
          <a:noFill/>
          <a:ln/>
        </p:spPr>
        <p:txBody>
          <a:bodyPr wrap="square" rtlCol="0" anchor="ctr"/>
          <a:lstStyle/>
          <a:p>
            <a:pPr marL="0" indent="0" algn="ctr">
              <a:buNone/>
            </a:pPr>
            <a:r>
              <a:rPr lang="en-US" sz="1400" i="1" dirty="0">
                <a:solidFill>
                  <a:srgbClr val="FFFFFF"/>
                </a:solidFill>
                <a:latin typeface="Cambria" pitchFamily="34" charset="0"/>
                <a:ea typeface="Cambria" pitchFamily="34" charset="-122"/>
                <a:cs typeface="Cambria" pitchFamily="34" charset="-120"/>
              </a:rPr>
              <a:t>"How might we develop safer e-waste dismantling processes in Solapur using benign solvents, less hazardous synthesis methods, and design for degradation principles?"</a:t>
            </a:r>
            <a:endParaRPr lang="en-US" sz="1400" dirty="0"/>
          </a:p>
        </p:txBody>
      </p:sp>
      <p:sp>
        <p:nvSpPr>
          <p:cNvPr id="5" name="Text 3"/>
          <p:cNvSpPr/>
          <p:nvPr/>
        </p:nvSpPr>
        <p:spPr>
          <a:xfrm>
            <a:off x="4663440" y="822960"/>
            <a:ext cx="4023360" cy="2560320"/>
          </a:xfrm>
          <a:prstGeom prst="rect">
            <a:avLst/>
          </a:prstGeom>
          <a:noFill/>
          <a:ln/>
        </p:spPr>
        <p:txBody>
          <a:bodyPr wrap="square" rtlCol="0" anchor="t"/>
          <a:lstStyle/>
          <a:p>
            <a:pPr marL="342900" indent="-342900">
              <a:buSzPct val="100000"/>
              <a:buChar char="•"/>
            </a:pPr>
            <a:r>
              <a:rPr lang="en-US" sz="1350" dirty="0">
                <a:solidFill>
                  <a:srgbClr val="1A1A2E"/>
                </a:solidFill>
                <a:latin typeface="Calibri" pitchFamily="34" charset="0"/>
                <a:ea typeface="Calibri" pitchFamily="34" charset="-122"/>
                <a:cs typeface="Calibri" pitchFamily="34" charset="-120"/>
              </a:rPr>
              <a:t>Global e-waste projected to reach 82 million tonnes by 2030</a:t>
            </a:r>
            <a:endParaRPr lang="en-US" sz="1350" dirty="0"/>
          </a:p>
          <a:p>
            <a:pPr marL="342900" indent="-342900">
              <a:buSzPct val="100000"/>
              <a:buChar char="•"/>
            </a:pPr>
            <a:r>
              <a:rPr lang="en-US" sz="1350" dirty="0">
                <a:solidFill>
                  <a:srgbClr val="1A1A2E"/>
                </a:solidFill>
                <a:latin typeface="Calibri" pitchFamily="34" charset="0"/>
                <a:ea typeface="Calibri" pitchFamily="34" charset="-122"/>
                <a:cs typeface="Calibri" pitchFamily="34" charset="-120"/>
              </a:rPr>
              <a:t>India is the 3rd largest e-waste generator (2M+ tonnes/year)</a:t>
            </a:r>
            <a:endParaRPr lang="en-US" sz="1350" dirty="0"/>
          </a:p>
          <a:p>
            <a:pPr marL="342900" indent="-342900">
              <a:buSzPct val="100000"/>
              <a:buChar char="•"/>
            </a:pPr>
            <a:r>
              <a:rPr lang="en-US" sz="1350" dirty="0">
                <a:solidFill>
                  <a:srgbClr val="1A1A2E"/>
                </a:solidFill>
                <a:latin typeface="Calibri" pitchFamily="34" charset="0"/>
                <a:ea typeface="Calibri" pitchFamily="34" charset="-122"/>
                <a:cs typeface="Calibri" pitchFamily="34" charset="-120"/>
              </a:rPr>
              <a:t>Over 95% handled by informal sector without safety equipment</a:t>
            </a:r>
            <a:endParaRPr lang="en-US" sz="1350" dirty="0"/>
          </a:p>
          <a:p>
            <a:pPr marL="342900" indent="-342900">
              <a:buSzPct val="100000"/>
              <a:buChar char="•"/>
            </a:pPr>
            <a:r>
              <a:rPr lang="en-US" sz="1350" dirty="0">
                <a:solidFill>
                  <a:srgbClr val="1A1A2E"/>
                </a:solidFill>
                <a:latin typeface="Calibri" pitchFamily="34" charset="0"/>
                <a:ea typeface="Calibri" pitchFamily="34" charset="-122"/>
                <a:cs typeface="Calibri" pitchFamily="34" charset="-120"/>
              </a:rPr>
              <a:t>Solapur's informal workers exposed to Pb, Cd, Hg, Cr daily</a:t>
            </a:r>
            <a:endParaRPr lang="en-US" sz="1350" dirty="0"/>
          </a:p>
          <a:p>
            <a:pPr marL="342900" indent="-342900">
              <a:buSzPct val="100000"/>
              <a:buChar char="•"/>
            </a:pPr>
            <a:r>
              <a:rPr lang="en-US" sz="1350" dirty="0">
                <a:solidFill>
                  <a:srgbClr val="1A1A2E"/>
                </a:solidFill>
                <a:latin typeface="Calibri" pitchFamily="34" charset="0"/>
                <a:ea typeface="Calibri" pitchFamily="34" charset="-122"/>
                <a:cs typeface="Calibri" pitchFamily="34" charset="-120"/>
              </a:rPr>
              <a:t>Green chemistry offers viable, scalable alternatives</a:t>
            </a:r>
            <a:endParaRPr lang="en-US" sz="1350" dirty="0"/>
          </a:p>
        </p:txBody>
      </p:sp>
      <p:sp>
        <p:nvSpPr>
          <p:cNvPr id="6" name="Shape 4"/>
          <p:cNvSpPr/>
          <p:nvPr/>
        </p:nvSpPr>
        <p:spPr>
          <a:xfrm>
            <a:off x="457200" y="3520440"/>
            <a:ext cx="1828800" cy="1280160"/>
          </a:xfrm>
          <a:prstGeom prst="rect">
            <a:avLst/>
          </a:prstGeom>
          <a:solidFill>
            <a:srgbClr val="4FC3F7"/>
          </a:solidFill>
          <a:ln w="12700">
            <a:solidFill>
              <a:srgbClr val="4FC3F7"/>
            </a:solidFill>
            <a:prstDash val="solid"/>
          </a:ln>
          <a:effectLst>
            <a:outerShdw blurRad="101600" dist="25400" dir="8100000" algn="bl" rotWithShape="0">
              <a:srgbClr val="000000">
                <a:alpha val="12000"/>
              </a:srgbClr>
            </a:outerShdw>
          </a:effectLst>
        </p:spPr>
      </p:sp>
      <p:sp>
        <p:nvSpPr>
          <p:cNvPr id="7" name="Text 5"/>
          <p:cNvSpPr/>
          <p:nvPr/>
        </p:nvSpPr>
        <p:spPr>
          <a:xfrm>
            <a:off x="457200" y="3566160"/>
            <a:ext cx="1828800" cy="594360"/>
          </a:xfrm>
          <a:prstGeom prst="rect">
            <a:avLst/>
          </a:prstGeom>
          <a:noFill/>
          <a:ln/>
        </p:spPr>
        <p:txBody>
          <a:bodyPr wrap="square" rtlCol="0" anchor="ctr"/>
          <a:lstStyle/>
          <a:p>
            <a:pPr marL="0" indent="0" algn="ctr">
              <a:buNone/>
            </a:pPr>
            <a:r>
              <a:rPr lang="en-US" sz="3600" b="1" dirty="0">
                <a:solidFill>
                  <a:srgbClr val="1E2761"/>
                </a:solidFill>
                <a:latin typeface="Cambria" pitchFamily="34" charset="0"/>
                <a:ea typeface="Cambria" pitchFamily="34" charset="-122"/>
                <a:cs typeface="Cambria" pitchFamily="34" charset="-120"/>
              </a:rPr>
              <a:t>82M</a:t>
            </a:r>
            <a:endParaRPr lang="en-US" sz="3600" dirty="0"/>
          </a:p>
        </p:txBody>
      </p:sp>
      <p:sp>
        <p:nvSpPr>
          <p:cNvPr id="8" name="Text 6"/>
          <p:cNvSpPr/>
          <p:nvPr/>
        </p:nvSpPr>
        <p:spPr>
          <a:xfrm>
            <a:off x="457200" y="4160520"/>
            <a:ext cx="1828800" cy="548640"/>
          </a:xfrm>
          <a:prstGeom prst="rect">
            <a:avLst/>
          </a:prstGeom>
          <a:noFill/>
          <a:ln/>
        </p:spPr>
        <p:txBody>
          <a:bodyPr wrap="square"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Tonnes e-waste</a:t>
            </a:r>
            <a:endParaRPr lang="en-US" sz="1100" dirty="0"/>
          </a:p>
          <a:p>
            <a:pPr marL="0" indent="0" algn="ctr">
              <a:buNone/>
            </a:pPr>
            <a:r>
              <a:rPr lang="en-US" sz="1100" dirty="0">
                <a:solidFill>
                  <a:srgbClr val="1E2761"/>
                </a:solidFill>
                <a:latin typeface="Calibri" pitchFamily="34" charset="0"/>
                <a:ea typeface="Calibri" pitchFamily="34" charset="-122"/>
                <a:cs typeface="Calibri" pitchFamily="34" charset="-120"/>
              </a:rPr>
              <a:t>by 2030</a:t>
            </a:r>
            <a:endParaRPr lang="en-US" sz="1100" dirty="0"/>
          </a:p>
        </p:txBody>
      </p:sp>
      <p:sp>
        <p:nvSpPr>
          <p:cNvPr id="9" name="Shape 7"/>
          <p:cNvSpPr/>
          <p:nvPr/>
        </p:nvSpPr>
        <p:spPr>
          <a:xfrm>
            <a:off x="2560320" y="3520440"/>
            <a:ext cx="1828800" cy="1280160"/>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10" name="Text 8"/>
          <p:cNvSpPr/>
          <p:nvPr/>
        </p:nvSpPr>
        <p:spPr>
          <a:xfrm>
            <a:off x="2560320" y="3566160"/>
            <a:ext cx="1828800" cy="594360"/>
          </a:xfrm>
          <a:prstGeom prst="rect">
            <a:avLst/>
          </a:prstGeom>
          <a:noFill/>
          <a:ln/>
        </p:spPr>
        <p:txBody>
          <a:bodyPr wrap="square" rtlCol="0" anchor="ctr"/>
          <a:lstStyle/>
          <a:p>
            <a:pPr marL="0" indent="0" algn="ctr">
              <a:buNone/>
            </a:pPr>
            <a:r>
              <a:rPr lang="en-US" sz="3600" b="1" dirty="0">
                <a:solidFill>
                  <a:srgbClr val="4FC3F7"/>
                </a:solidFill>
                <a:latin typeface="Cambria" pitchFamily="34" charset="0"/>
                <a:ea typeface="Cambria" pitchFamily="34" charset="-122"/>
                <a:cs typeface="Cambria" pitchFamily="34" charset="-120"/>
              </a:rPr>
              <a:t>&gt;95%</a:t>
            </a:r>
            <a:endParaRPr lang="en-US" sz="3600" dirty="0"/>
          </a:p>
        </p:txBody>
      </p:sp>
      <p:sp>
        <p:nvSpPr>
          <p:cNvPr id="11" name="Text 9"/>
          <p:cNvSpPr/>
          <p:nvPr/>
        </p:nvSpPr>
        <p:spPr>
          <a:xfrm>
            <a:off x="2560320" y="4160520"/>
            <a:ext cx="1828800" cy="5486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Informal sector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processing in India</a:t>
            </a:r>
            <a:endParaRPr lang="en-US" sz="1100" dirty="0"/>
          </a:p>
        </p:txBody>
      </p:sp>
      <p:sp>
        <p:nvSpPr>
          <p:cNvPr id="12" name="Shape 10"/>
          <p:cNvSpPr/>
          <p:nvPr/>
        </p:nvSpPr>
        <p:spPr>
          <a:xfrm>
            <a:off x="4663440" y="3520440"/>
            <a:ext cx="1828800" cy="1280160"/>
          </a:xfrm>
          <a:prstGeom prst="rect">
            <a:avLst/>
          </a:prstGeom>
          <a:solidFill>
            <a:srgbClr val="0D47A1"/>
          </a:solidFill>
          <a:ln w="12700">
            <a:solidFill>
              <a:srgbClr val="0D47A1"/>
            </a:solidFill>
            <a:prstDash val="solid"/>
          </a:ln>
          <a:effectLst>
            <a:outerShdw blurRad="101600" dist="25400" dir="8100000" algn="bl" rotWithShape="0">
              <a:srgbClr val="000000">
                <a:alpha val="12000"/>
              </a:srgbClr>
            </a:outerShdw>
          </a:effectLst>
        </p:spPr>
      </p:sp>
      <p:sp>
        <p:nvSpPr>
          <p:cNvPr id="13" name="Text 11"/>
          <p:cNvSpPr/>
          <p:nvPr/>
        </p:nvSpPr>
        <p:spPr>
          <a:xfrm>
            <a:off x="4663440" y="3566160"/>
            <a:ext cx="1828800" cy="5943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3-5%</a:t>
            </a:r>
            <a:endParaRPr lang="en-US" sz="3600" dirty="0"/>
          </a:p>
        </p:txBody>
      </p:sp>
      <p:sp>
        <p:nvSpPr>
          <p:cNvPr id="14" name="Text 12"/>
          <p:cNvSpPr/>
          <p:nvPr/>
        </p:nvSpPr>
        <p:spPr>
          <a:xfrm>
            <a:off x="4663440" y="4160520"/>
            <a:ext cx="1828800" cy="5486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Annual growth rate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of global e-waste</a:t>
            </a:r>
            <a:endParaRPr lang="en-US" sz="1100" dirty="0"/>
          </a:p>
        </p:txBody>
      </p:sp>
      <p:sp>
        <p:nvSpPr>
          <p:cNvPr id="15" name="Shape 13"/>
          <p:cNvSpPr/>
          <p:nvPr/>
        </p:nvSpPr>
        <p:spPr>
          <a:xfrm>
            <a:off x="6766560" y="3520440"/>
            <a:ext cx="1920240" cy="1280160"/>
          </a:xfrm>
          <a:prstGeom prst="rect">
            <a:avLst/>
          </a:prstGeom>
          <a:solidFill>
            <a:srgbClr val="CADCFC"/>
          </a:solidFill>
          <a:ln w="12700">
            <a:solidFill>
              <a:srgbClr val="CADCFC"/>
            </a:solidFill>
            <a:prstDash val="solid"/>
          </a:ln>
          <a:effectLst>
            <a:outerShdw blurRad="101600" dist="25400" dir="8100000" algn="bl" rotWithShape="0">
              <a:srgbClr val="000000">
                <a:alpha val="12000"/>
              </a:srgbClr>
            </a:outerShdw>
          </a:effectLst>
        </p:spPr>
      </p:sp>
      <p:sp>
        <p:nvSpPr>
          <p:cNvPr id="16" name="Text 14"/>
          <p:cNvSpPr/>
          <p:nvPr/>
        </p:nvSpPr>
        <p:spPr>
          <a:xfrm>
            <a:off x="6766560" y="3566160"/>
            <a:ext cx="1920240" cy="594360"/>
          </a:xfrm>
          <a:prstGeom prst="rect">
            <a:avLst/>
          </a:prstGeom>
          <a:noFill/>
          <a:ln/>
        </p:spPr>
        <p:txBody>
          <a:bodyPr wrap="square" rtlCol="0" anchor="ctr"/>
          <a:lstStyle/>
          <a:p>
            <a:pPr marL="0" indent="0" algn="ctr">
              <a:buNone/>
            </a:pPr>
            <a:r>
              <a:rPr lang="en-US" sz="3600" b="1" dirty="0">
                <a:solidFill>
                  <a:srgbClr val="1E2761"/>
                </a:solidFill>
                <a:latin typeface="Cambria" pitchFamily="34" charset="0"/>
                <a:ea typeface="Cambria" pitchFamily="34" charset="-122"/>
                <a:cs typeface="Cambria" pitchFamily="34" charset="-120"/>
              </a:rPr>
              <a:t>&lt;5%</a:t>
            </a:r>
            <a:endParaRPr lang="en-US" sz="3600" dirty="0"/>
          </a:p>
        </p:txBody>
      </p:sp>
      <p:sp>
        <p:nvSpPr>
          <p:cNvPr id="17" name="Text 15"/>
          <p:cNvSpPr/>
          <p:nvPr/>
        </p:nvSpPr>
        <p:spPr>
          <a:xfrm>
            <a:off x="6766560" y="4160520"/>
            <a:ext cx="1920240" cy="548640"/>
          </a:xfrm>
          <a:prstGeom prst="rect">
            <a:avLst/>
          </a:prstGeom>
          <a:noFill/>
          <a:ln/>
        </p:spPr>
        <p:txBody>
          <a:bodyPr wrap="square" rtlCol="0" anchor="ctr"/>
          <a:lstStyle/>
          <a:p>
            <a:pPr marL="0" indent="0" algn="ctr">
              <a:buNone/>
            </a:pPr>
            <a:r>
              <a:rPr lang="en-US" sz="1100" dirty="0">
                <a:solidFill>
                  <a:srgbClr val="1E2761"/>
                </a:solidFill>
                <a:latin typeface="Calibri" pitchFamily="34" charset="0"/>
                <a:ea typeface="Calibri" pitchFamily="34" charset="-122"/>
                <a:cs typeface="Calibri" pitchFamily="34" charset="-120"/>
              </a:rPr>
              <a:t>Formal recycling</a:t>
            </a:r>
            <a:endParaRPr lang="en-US" sz="1100" dirty="0"/>
          </a:p>
          <a:p>
            <a:pPr marL="0" indent="0" algn="ctr">
              <a:buNone/>
            </a:pPr>
            <a:r>
              <a:rPr lang="en-US" sz="1100" dirty="0">
                <a:solidFill>
                  <a:srgbClr val="1E2761"/>
                </a:solidFill>
                <a:latin typeface="Calibri" pitchFamily="34" charset="0"/>
                <a:ea typeface="Calibri" pitchFamily="34" charset="-122"/>
                <a:cs typeface="Calibri" pitchFamily="34" charset="-120"/>
              </a:rPr>
              <a:t>capacity in India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Literature Review &amp; Background</a:t>
            </a:r>
            <a:endParaRPr lang="en-US" sz="3000" dirty="0"/>
          </a:p>
        </p:txBody>
      </p:sp>
      <p:sp>
        <p:nvSpPr>
          <p:cNvPr id="3" name="Shape 1"/>
          <p:cNvSpPr/>
          <p:nvPr/>
        </p:nvSpPr>
        <p:spPr>
          <a:xfrm>
            <a:off x="457200" y="804672"/>
            <a:ext cx="658368" cy="310896"/>
          </a:xfrm>
          <a:prstGeom prst="rect">
            <a:avLst/>
          </a:prstGeom>
          <a:solidFill>
            <a:srgbClr val="1E2761"/>
          </a:solidFill>
          <a:ln w="12700">
            <a:solidFill>
              <a:srgbClr val="1E2761"/>
            </a:solidFill>
            <a:prstDash val="solid"/>
          </a:ln>
        </p:spPr>
      </p:sp>
      <p:sp>
        <p:nvSpPr>
          <p:cNvPr id="4" name="Text 2"/>
          <p:cNvSpPr/>
          <p:nvPr/>
        </p:nvSpPr>
        <p:spPr>
          <a:xfrm>
            <a:off x="457200" y="804672"/>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2001</a:t>
            </a:r>
            <a:endParaRPr lang="en-US" sz="1100" dirty="0"/>
          </a:p>
        </p:txBody>
      </p:sp>
      <p:sp>
        <p:nvSpPr>
          <p:cNvPr id="5" name="Text 3"/>
          <p:cNvSpPr/>
          <p:nvPr/>
        </p:nvSpPr>
        <p:spPr>
          <a:xfrm>
            <a:off x="1188720" y="832104"/>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Brandl et al. — bioleaching proof of concept from PCBs</a:t>
            </a:r>
            <a:endParaRPr lang="en-US" sz="1100" dirty="0"/>
          </a:p>
        </p:txBody>
      </p:sp>
      <p:sp>
        <p:nvSpPr>
          <p:cNvPr id="6" name="Shape 4"/>
          <p:cNvSpPr/>
          <p:nvPr/>
        </p:nvSpPr>
        <p:spPr>
          <a:xfrm>
            <a:off x="457200" y="1316736"/>
            <a:ext cx="658368" cy="310896"/>
          </a:xfrm>
          <a:prstGeom prst="rect">
            <a:avLst/>
          </a:prstGeom>
          <a:solidFill>
            <a:srgbClr val="1E2761"/>
          </a:solidFill>
          <a:ln w="12700">
            <a:solidFill>
              <a:srgbClr val="1E2761"/>
            </a:solidFill>
            <a:prstDash val="solid"/>
          </a:ln>
        </p:spPr>
      </p:sp>
      <p:sp>
        <p:nvSpPr>
          <p:cNvPr id="7" name="Text 5"/>
          <p:cNvSpPr/>
          <p:nvPr/>
        </p:nvSpPr>
        <p:spPr>
          <a:xfrm>
            <a:off x="457200" y="1316736"/>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2008</a:t>
            </a:r>
            <a:endParaRPr lang="en-US" sz="1100" dirty="0"/>
          </a:p>
        </p:txBody>
      </p:sp>
      <p:sp>
        <p:nvSpPr>
          <p:cNvPr id="8" name="Text 6"/>
          <p:cNvSpPr/>
          <p:nvPr/>
        </p:nvSpPr>
        <p:spPr>
          <a:xfrm>
            <a:off x="1188720" y="1344168"/>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Cui &amp; Zhang — metallurgical recovery methods review</a:t>
            </a:r>
            <a:endParaRPr lang="en-US" sz="1100" dirty="0"/>
          </a:p>
        </p:txBody>
      </p:sp>
      <p:sp>
        <p:nvSpPr>
          <p:cNvPr id="9" name="Shape 7"/>
          <p:cNvSpPr/>
          <p:nvPr/>
        </p:nvSpPr>
        <p:spPr>
          <a:xfrm>
            <a:off x="457200" y="1828800"/>
            <a:ext cx="658368" cy="310896"/>
          </a:xfrm>
          <a:prstGeom prst="rect">
            <a:avLst/>
          </a:prstGeom>
          <a:solidFill>
            <a:srgbClr val="1E2761"/>
          </a:solidFill>
          <a:ln w="12700">
            <a:solidFill>
              <a:srgbClr val="1E2761"/>
            </a:solidFill>
            <a:prstDash val="solid"/>
          </a:ln>
        </p:spPr>
      </p:sp>
      <p:sp>
        <p:nvSpPr>
          <p:cNvPr id="10" name="Text 8"/>
          <p:cNvSpPr/>
          <p:nvPr/>
        </p:nvSpPr>
        <p:spPr>
          <a:xfrm>
            <a:off x="457200" y="1828800"/>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2010</a:t>
            </a:r>
            <a:endParaRPr lang="en-US" sz="1100" dirty="0"/>
          </a:p>
        </p:txBody>
      </p:sp>
      <p:sp>
        <p:nvSpPr>
          <p:cNvPr id="11" name="Text 9"/>
          <p:cNvSpPr/>
          <p:nvPr/>
        </p:nvSpPr>
        <p:spPr>
          <a:xfrm>
            <a:off x="1188720" y="1856232"/>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Ilyas et al. — 80%+ copper via bacterial bioleaching</a:t>
            </a:r>
            <a:endParaRPr lang="en-US" sz="1100" dirty="0"/>
          </a:p>
        </p:txBody>
      </p:sp>
      <p:sp>
        <p:nvSpPr>
          <p:cNvPr id="12" name="Shape 10"/>
          <p:cNvSpPr/>
          <p:nvPr/>
        </p:nvSpPr>
        <p:spPr>
          <a:xfrm>
            <a:off x="457200" y="2340864"/>
            <a:ext cx="658368" cy="310896"/>
          </a:xfrm>
          <a:prstGeom prst="rect">
            <a:avLst/>
          </a:prstGeom>
          <a:solidFill>
            <a:srgbClr val="1E2761"/>
          </a:solidFill>
          <a:ln w="12700">
            <a:solidFill>
              <a:srgbClr val="1E2761"/>
            </a:solidFill>
            <a:prstDash val="solid"/>
          </a:ln>
        </p:spPr>
      </p:sp>
      <p:sp>
        <p:nvSpPr>
          <p:cNvPr id="13" name="Text 11"/>
          <p:cNvSpPr/>
          <p:nvPr/>
        </p:nvSpPr>
        <p:spPr>
          <a:xfrm>
            <a:off x="457200" y="2340864"/>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2014</a:t>
            </a:r>
            <a:endParaRPr lang="en-US" sz="1100" dirty="0"/>
          </a:p>
        </p:txBody>
      </p:sp>
      <p:sp>
        <p:nvSpPr>
          <p:cNvPr id="14" name="Text 12"/>
          <p:cNvSpPr/>
          <p:nvPr/>
        </p:nvSpPr>
        <p:spPr>
          <a:xfrm>
            <a:off x="1188720" y="2368296"/>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Smith et al. — foundational DES chemistry (5,400+ citations)</a:t>
            </a:r>
            <a:endParaRPr lang="en-US" sz="1100" dirty="0"/>
          </a:p>
        </p:txBody>
      </p:sp>
      <p:sp>
        <p:nvSpPr>
          <p:cNvPr id="15" name="Shape 13"/>
          <p:cNvSpPr/>
          <p:nvPr/>
        </p:nvSpPr>
        <p:spPr>
          <a:xfrm>
            <a:off x="457200" y="2852928"/>
            <a:ext cx="658368" cy="310896"/>
          </a:xfrm>
          <a:prstGeom prst="rect">
            <a:avLst/>
          </a:prstGeom>
          <a:solidFill>
            <a:srgbClr val="1E2761"/>
          </a:solidFill>
          <a:ln w="12700">
            <a:solidFill>
              <a:srgbClr val="1E2761"/>
            </a:solidFill>
            <a:prstDash val="solid"/>
          </a:ln>
        </p:spPr>
      </p:sp>
      <p:sp>
        <p:nvSpPr>
          <p:cNvPr id="16" name="Text 14"/>
          <p:cNvSpPr/>
          <p:nvPr/>
        </p:nvSpPr>
        <p:spPr>
          <a:xfrm>
            <a:off x="457200" y="2852928"/>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2019</a:t>
            </a:r>
            <a:endParaRPr lang="en-US" sz="1100" dirty="0"/>
          </a:p>
        </p:txBody>
      </p:sp>
      <p:sp>
        <p:nvSpPr>
          <p:cNvPr id="17" name="Text 15"/>
          <p:cNvSpPr/>
          <p:nvPr/>
        </p:nvSpPr>
        <p:spPr>
          <a:xfrm>
            <a:off x="1188720" y="2880360"/>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Tran et al. (Nature Energy) — 90%+ Li/Co recovery via DES</a:t>
            </a:r>
            <a:endParaRPr lang="en-US" sz="1100" dirty="0"/>
          </a:p>
        </p:txBody>
      </p:sp>
      <p:sp>
        <p:nvSpPr>
          <p:cNvPr id="18" name="Shape 16"/>
          <p:cNvSpPr/>
          <p:nvPr/>
        </p:nvSpPr>
        <p:spPr>
          <a:xfrm>
            <a:off x="457200" y="3364992"/>
            <a:ext cx="658368" cy="310896"/>
          </a:xfrm>
          <a:prstGeom prst="rect">
            <a:avLst/>
          </a:prstGeom>
          <a:solidFill>
            <a:srgbClr val="1E2761"/>
          </a:solidFill>
          <a:ln w="12700">
            <a:solidFill>
              <a:srgbClr val="1E2761"/>
            </a:solidFill>
            <a:prstDash val="solid"/>
          </a:ln>
        </p:spPr>
      </p:sp>
      <p:sp>
        <p:nvSpPr>
          <p:cNvPr id="19" name="Text 17"/>
          <p:cNvSpPr/>
          <p:nvPr/>
        </p:nvSpPr>
        <p:spPr>
          <a:xfrm>
            <a:off x="457200" y="3364992"/>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2021</a:t>
            </a:r>
            <a:endParaRPr lang="en-US" sz="1100" dirty="0"/>
          </a:p>
        </p:txBody>
      </p:sp>
      <p:sp>
        <p:nvSpPr>
          <p:cNvPr id="20" name="Text 18"/>
          <p:cNvSpPr/>
          <p:nvPr/>
        </p:nvSpPr>
        <p:spPr>
          <a:xfrm>
            <a:off x="1188720" y="3392424"/>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Pathak et al. — fungal bioleaching at near-neutral pH</a:t>
            </a:r>
            <a:endParaRPr lang="en-US" sz="1100" dirty="0"/>
          </a:p>
        </p:txBody>
      </p:sp>
      <p:sp>
        <p:nvSpPr>
          <p:cNvPr id="21" name="Shape 19"/>
          <p:cNvSpPr/>
          <p:nvPr/>
        </p:nvSpPr>
        <p:spPr>
          <a:xfrm>
            <a:off x="457200" y="3877056"/>
            <a:ext cx="658368" cy="310896"/>
          </a:xfrm>
          <a:prstGeom prst="rect">
            <a:avLst/>
          </a:prstGeom>
          <a:solidFill>
            <a:srgbClr val="1E2761"/>
          </a:solidFill>
          <a:ln w="12700">
            <a:solidFill>
              <a:srgbClr val="1E2761"/>
            </a:solidFill>
            <a:prstDash val="solid"/>
          </a:ln>
        </p:spPr>
      </p:sp>
      <p:sp>
        <p:nvSpPr>
          <p:cNvPr id="22" name="Text 20"/>
          <p:cNvSpPr/>
          <p:nvPr/>
        </p:nvSpPr>
        <p:spPr>
          <a:xfrm>
            <a:off x="457200" y="3877056"/>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2024</a:t>
            </a:r>
            <a:endParaRPr lang="en-US" sz="1100" dirty="0"/>
          </a:p>
        </p:txBody>
      </p:sp>
      <p:sp>
        <p:nvSpPr>
          <p:cNvPr id="23" name="Text 21"/>
          <p:cNvSpPr/>
          <p:nvPr/>
        </p:nvSpPr>
        <p:spPr>
          <a:xfrm>
            <a:off x="1188720" y="3904488"/>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Hubbard et al. (Nature Sustainability) — vitrimer PCBs</a:t>
            </a:r>
            <a:endParaRPr lang="en-US" sz="1100" dirty="0"/>
          </a:p>
        </p:txBody>
      </p:sp>
      <p:sp>
        <p:nvSpPr>
          <p:cNvPr id="24" name="Shape 22"/>
          <p:cNvSpPr/>
          <p:nvPr/>
        </p:nvSpPr>
        <p:spPr>
          <a:xfrm>
            <a:off x="457200" y="4389120"/>
            <a:ext cx="658368" cy="310896"/>
          </a:xfrm>
          <a:prstGeom prst="rect">
            <a:avLst/>
          </a:prstGeom>
          <a:solidFill>
            <a:srgbClr val="1E2761"/>
          </a:solidFill>
          <a:ln w="12700">
            <a:solidFill>
              <a:srgbClr val="1E2761"/>
            </a:solidFill>
            <a:prstDash val="solid"/>
          </a:ln>
        </p:spPr>
      </p:sp>
      <p:sp>
        <p:nvSpPr>
          <p:cNvPr id="25" name="Text 23"/>
          <p:cNvSpPr/>
          <p:nvPr/>
        </p:nvSpPr>
        <p:spPr>
          <a:xfrm>
            <a:off x="457200" y="4389120"/>
            <a:ext cx="658368"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2026</a:t>
            </a:r>
            <a:endParaRPr lang="en-US" sz="1100" dirty="0"/>
          </a:p>
        </p:txBody>
      </p:sp>
      <p:sp>
        <p:nvSpPr>
          <p:cNvPr id="26" name="Text 24"/>
          <p:cNvSpPr/>
          <p:nvPr/>
        </p:nvSpPr>
        <p:spPr>
          <a:xfrm>
            <a:off x="1188720" y="4416552"/>
            <a:ext cx="3200400" cy="27432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Amusa et al. — 100% Li, 99.6% Co DES recovery confirmed</a:t>
            </a:r>
            <a:endParaRPr lang="en-US" sz="1100" dirty="0"/>
          </a:p>
        </p:txBody>
      </p:sp>
      <p:sp>
        <p:nvSpPr>
          <p:cNvPr id="27" name="Shape 25"/>
          <p:cNvSpPr/>
          <p:nvPr/>
        </p:nvSpPr>
        <p:spPr>
          <a:xfrm>
            <a:off x="4663440" y="804672"/>
            <a:ext cx="64008" cy="914400"/>
          </a:xfrm>
          <a:prstGeom prst="rect">
            <a:avLst/>
          </a:prstGeom>
          <a:solidFill>
            <a:srgbClr val="4FC3F7"/>
          </a:solidFill>
          <a:ln w="12700">
            <a:solidFill>
              <a:srgbClr val="4FC3F7"/>
            </a:solidFill>
            <a:prstDash val="solid"/>
          </a:ln>
        </p:spPr>
      </p:sp>
      <p:sp>
        <p:nvSpPr>
          <p:cNvPr id="28" name="Shape 26"/>
          <p:cNvSpPr/>
          <p:nvPr/>
        </p:nvSpPr>
        <p:spPr>
          <a:xfrm>
            <a:off x="4727448" y="804672"/>
            <a:ext cx="3959352"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9" name="Text 27"/>
          <p:cNvSpPr/>
          <p:nvPr/>
        </p:nvSpPr>
        <p:spPr>
          <a:xfrm>
            <a:off x="4773168" y="850392"/>
            <a:ext cx="384048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Deep Eutectic Solvents (DES)</a:t>
            </a:r>
            <a:endParaRPr lang="en-US" sz="1300" dirty="0"/>
          </a:p>
        </p:txBody>
      </p:sp>
      <p:sp>
        <p:nvSpPr>
          <p:cNvPr id="30" name="Text 28"/>
          <p:cNvSpPr/>
          <p:nvPr/>
        </p:nvSpPr>
        <p:spPr>
          <a:xfrm>
            <a:off x="4773168" y="1106424"/>
            <a:ext cx="3840480" cy="56692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Choline chloride + HBD systems recover 80-95% gold, 99.6% cobalt under ambient conditions. Biodegradable and food-grade precursors. 40-60% lower GWP than pyrometallurgy.</a:t>
            </a:r>
            <a:endParaRPr lang="en-US" sz="1100" dirty="0"/>
          </a:p>
        </p:txBody>
      </p:sp>
      <p:sp>
        <p:nvSpPr>
          <p:cNvPr id="31" name="Shape 29"/>
          <p:cNvSpPr/>
          <p:nvPr/>
        </p:nvSpPr>
        <p:spPr>
          <a:xfrm>
            <a:off x="4663440" y="1837944"/>
            <a:ext cx="64008" cy="914400"/>
          </a:xfrm>
          <a:prstGeom prst="rect">
            <a:avLst/>
          </a:prstGeom>
          <a:solidFill>
            <a:srgbClr val="4FC3F7"/>
          </a:solidFill>
          <a:ln w="12700">
            <a:solidFill>
              <a:srgbClr val="4FC3F7"/>
            </a:solidFill>
            <a:prstDash val="solid"/>
          </a:ln>
        </p:spPr>
      </p:sp>
      <p:sp>
        <p:nvSpPr>
          <p:cNvPr id="32" name="Shape 30"/>
          <p:cNvSpPr/>
          <p:nvPr/>
        </p:nvSpPr>
        <p:spPr>
          <a:xfrm>
            <a:off x="4727448" y="1837944"/>
            <a:ext cx="3959352"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33" name="Text 31"/>
          <p:cNvSpPr/>
          <p:nvPr/>
        </p:nvSpPr>
        <p:spPr>
          <a:xfrm>
            <a:off x="4773168" y="1883664"/>
            <a:ext cx="384048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Bioleaching Systems</a:t>
            </a:r>
            <a:endParaRPr lang="en-US" sz="1300" dirty="0"/>
          </a:p>
        </p:txBody>
      </p:sp>
      <p:sp>
        <p:nvSpPr>
          <p:cNvPr id="34" name="Text 32"/>
          <p:cNvSpPr/>
          <p:nvPr/>
        </p:nvSpPr>
        <p:spPr>
          <a:xfrm>
            <a:off x="4773168" y="2139696"/>
            <a:ext cx="3840480" cy="56692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Bacterial: &gt;80% Cu, strict pH 1.5-2.5. Fungal (Aspergillus niger): 85% Cu at near-neutral pH — more accessible for informal settings without acid infrastructure.</a:t>
            </a:r>
            <a:endParaRPr lang="en-US" sz="1100" dirty="0"/>
          </a:p>
        </p:txBody>
      </p:sp>
      <p:sp>
        <p:nvSpPr>
          <p:cNvPr id="35" name="Shape 33"/>
          <p:cNvSpPr/>
          <p:nvPr/>
        </p:nvSpPr>
        <p:spPr>
          <a:xfrm>
            <a:off x="4663440" y="2871216"/>
            <a:ext cx="64008" cy="914400"/>
          </a:xfrm>
          <a:prstGeom prst="rect">
            <a:avLst/>
          </a:prstGeom>
          <a:solidFill>
            <a:srgbClr val="4FC3F7"/>
          </a:solidFill>
          <a:ln w="12700">
            <a:solidFill>
              <a:srgbClr val="4FC3F7"/>
            </a:solidFill>
            <a:prstDash val="solid"/>
          </a:ln>
        </p:spPr>
      </p:sp>
      <p:sp>
        <p:nvSpPr>
          <p:cNvPr id="36" name="Shape 34"/>
          <p:cNvSpPr/>
          <p:nvPr/>
        </p:nvSpPr>
        <p:spPr>
          <a:xfrm>
            <a:off x="4727448" y="2871216"/>
            <a:ext cx="3959352"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37" name="Text 35"/>
          <p:cNvSpPr/>
          <p:nvPr/>
        </p:nvSpPr>
        <p:spPr>
          <a:xfrm>
            <a:off x="4773168" y="2916936"/>
            <a:ext cx="384048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Mechanochemical Processing</a:t>
            </a:r>
            <a:endParaRPr lang="en-US" sz="1300" dirty="0"/>
          </a:p>
        </p:txBody>
      </p:sp>
      <p:sp>
        <p:nvSpPr>
          <p:cNvPr id="38" name="Text 36"/>
          <p:cNvSpPr/>
          <p:nvPr/>
        </p:nvSpPr>
        <p:spPr>
          <a:xfrm>
            <a:off x="4773168" y="3172968"/>
            <a:ext cx="3840480" cy="56692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Ball milling with Na₂CO₃ achieves &gt;95% copper extraction via water leaching. Reduces acid consumption 60%. No elevated temp required. Most immediately deployable.</a:t>
            </a:r>
            <a:endParaRPr lang="en-US" sz="1100" dirty="0"/>
          </a:p>
        </p:txBody>
      </p:sp>
      <p:sp>
        <p:nvSpPr>
          <p:cNvPr id="39" name="Shape 37"/>
          <p:cNvSpPr/>
          <p:nvPr/>
        </p:nvSpPr>
        <p:spPr>
          <a:xfrm>
            <a:off x="4663440" y="3904488"/>
            <a:ext cx="64008" cy="914400"/>
          </a:xfrm>
          <a:prstGeom prst="rect">
            <a:avLst/>
          </a:prstGeom>
          <a:solidFill>
            <a:srgbClr val="4FC3F7"/>
          </a:solidFill>
          <a:ln w="12700">
            <a:solidFill>
              <a:srgbClr val="4FC3F7"/>
            </a:solidFill>
            <a:prstDash val="solid"/>
          </a:ln>
        </p:spPr>
      </p:sp>
      <p:sp>
        <p:nvSpPr>
          <p:cNvPr id="40" name="Shape 38"/>
          <p:cNvSpPr/>
          <p:nvPr/>
        </p:nvSpPr>
        <p:spPr>
          <a:xfrm>
            <a:off x="4727448" y="3904488"/>
            <a:ext cx="3959352"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41" name="Text 39"/>
          <p:cNvSpPr/>
          <p:nvPr/>
        </p:nvSpPr>
        <p:spPr>
          <a:xfrm>
            <a:off x="4773168" y="3950208"/>
            <a:ext cx="384048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Design for Degradation</a:t>
            </a:r>
            <a:endParaRPr lang="en-US" sz="1300" dirty="0"/>
          </a:p>
        </p:txBody>
      </p:sp>
      <p:sp>
        <p:nvSpPr>
          <p:cNvPr id="42" name="Text 40"/>
          <p:cNvSpPr/>
          <p:nvPr/>
        </p:nvSpPr>
        <p:spPr>
          <a:xfrm>
            <a:off x="4773168" y="4206240"/>
            <a:ext cx="3840480" cy="56692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PLA-PCBs: 95%+ binder + 100% fiberglass recovery. Vitrimer PCBs: full recyclability via transesterification. Transient electronics: dissolve in water in &lt;10 minutes.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Methodology</a:t>
            </a:r>
            <a:endParaRPr lang="en-US" sz="3000" dirty="0"/>
          </a:p>
        </p:txBody>
      </p:sp>
      <p:sp>
        <p:nvSpPr>
          <p:cNvPr id="3" name="Shape 1"/>
          <p:cNvSpPr/>
          <p:nvPr/>
        </p:nvSpPr>
        <p:spPr>
          <a:xfrm>
            <a:off x="457200" y="868680"/>
            <a:ext cx="502920" cy="502920"/>
          </a:xfrm>
          <a:prstGeom prst="ellipse">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4" name="Text 2"/>
          <p:cNvSpPr/>
          <p:nvPr/>
        </p:nvSpPr>
        <p:spPr>
          <a:xfrm>
            <a:off x="457200" y="86868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5" name="Shape 3"/>
          <p:cNvSpPr/>
          <p:nvPr/>
        </p:nvSpPr>
        <p:spPr>
          <a:xfrm>
            <a:off x="1051560" y="868680"/>
            <a:ext cx="370332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6" name="Text 4"/>
          <p:cNvSpPr/>
          <p:nvPr/>
        </p:nvSpPr>
        <p:spPr>
          <a:xfrm>
            <a:off x="1143000" y="923544"/>
            <a:ext cx="352044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HMW Problem Framing</a:t>
            </a:r>
            <a:endParaRPr lang="en-US" sz="1400" dirty="0"/>
          </a:p>
        </p:txBody>
      </p:sp>
      <p:sp>
        <p:nvSpPr>
          <p:cNvPr id="7" name="Text 5"/>
          <p:cNvSpPr/>
          <p:nvPr/>
        </p:nvSpPr>
        <p:spPr>
          <a:xfrm>
            <a:off x="1143000" y="1216152"/>
            <a:ext cx="3520440" cy="71323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Defined scope: safer dismantling in Solapur using 12 Green Chemistry Principles (Anastas &amp; Warner, 1998) as analytical framework.</a:t>
            </a:r>
            <a:endParaRPr lang="en-US" sz="1200" dirty="0"/>
          </a:p>
        </p:txBody>
      </p:sp>
      <p:sp>
        <p:nvSpPr>
          <p:cNvPr id="8" name="Shape 6"/>
          <p:cNvSpPr/>
          <p:nvPr/>
        </p:nvSpPr>
        <p:spPr>
          <a:xfrm>
            <a:off x="4343400" y="1078992"/>
            <a:ext cx="457200" cy="54864"/>
          </a:xfrm>
          <a:prstGeom prst="rect">
            <a:avLst/>
          </a:prstGeom>
          <a:solidFill>
            <a:srgbClr val="4FC3F7"/>
          </a:solidFill>
          <a:ln w="12700">
            <a:solidFill>
              <a:srgbClr val="4FC3F7"/>
            </a:solidFill>
            <a:prstDash val="solid"/>
          </a:ln>
        </p:spPr>
      </p:sp>
      <p:sp>
        <p:nvSpPr>
          <p:cNvPr id="9" name="Shape 7"/>
          <p:cNvSpPr/>
          <p:nvPr/>
        </p:nvSpPr>
        <p:spPr>
          <a:xfrm>
            <a:off x="4800600" y="868680"/>
            <a:ext cx="502920" cy="502920"/>
          </a:xfrm>
          <a:prstGeom prst="ellipse">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10" name="Text 8"/>
          <p:cNvSpPr/>
          <p:nvPr/>
        </p:nvSpPr>
        <p:spPr>
          <a:xfrm>
            <a:off x="4800600" y="86868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1" name="Shape 9"/>
          <p:cNvSpPr/>
          <p:nvPr/>
        </p:nvSpPr>
        <p:spPr>
          <a:xfrm>
            <a:off x="5394960" y="868680"/>
            <a:ext cx="370332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2" name="Text 10"/>
          <p:cNvSpPr/>
          <p:nvPr/>
        </p:nvSpPr>
        <p:spPr>
          <a:xfrm>
            <a:off x="5486400" y="923544"/>
            <a:ext cx="352044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Literature Search</a:t>
            </a:r>
            <a:endParaRPr lang="en-US" sz="1400" dirty="0"/>
          </a:p>
        </p:txBody>
      </p:sp>
      <p:sp>
        <p:nvSpPr>
          <p:cNvPr id="13" name="Text 11"/>
          <p:cNvSpPr/>
          <p:nvPr/>
        </p:nvSpPr>
        <p:spPr>
          <a:xfrm>
            <a:off x="5486400" y="1216152"/>
            <a:ext cx="3520440" cy="71323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Searched Chemical Reviews, Nature Energy, Journal of Hazardous Materials, Env. Pollution. 28 peer-reviewed sources synthesized.</a:t>
            </a:r>
            <a:endParaRPr lang="en-US" sz="1200" dirty="0"/>
          </a:p>
        </p:txBody>
      </p:sp>
      <p:sp>
        <p:nvSpPr>
          <p:cNvPr id="14" name="Shape 12"/>
          <p:cNvSpPr/>
          <p:nvPr/>
        </p:nvSpPr>
        <p:spPr>
          <a:xfrm>
            <a:off x="457200" y="2286000"/>
            <a:ext cx="502920" cy="502920"/>
          </a:xfrm>
          <a:prstGeom prst="ellipse">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15" name="Text 13"/>
          <p:cNvSpPr/>
          <p:nvPr/>
        </p:nvSpPr>
        <p:spPr>
          <a:xfrm>
            <a:off x="457200" y="22860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6" name="Shape 14"/>
          <p:cNvSpPr/>
          <p:nvPr/>
        </p:nvSpPr>
        <p:spPr>
          <a:xfrm>
            <a:off x="1051560" y="2286000"/>
            <a:ext cx="370332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7" name="Text 15"/>
          <p:cNvSpPr/>
          <p:nvPr/>
        </p:nvSpPr>
        <p:spPr>
          <a:xfrm>
            <a:off x="1143000" y="2340864"/>
            <a:ext cx="352044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Thematic Classification</a:t>
            </a:r>
            <a:endParaRPr lang="en-US" sz="1400" dirty="0"/>
          </a:p>
        </p:txBody>
      </p:sp>
      <p:sp>
        <p:nvSpPr>
          <p:cNvPr id="18" name="Text 16"/>
          <p:cNvSpPr/>
          <p:nvPr/>
        </p:nvSpPr>
        <p:spPr>
          <a:xfrm>
            <a:off x="1143000" y="2633472"/>
            <a:ext cx="3520440" cy="71323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Categorized studies under 3 pillars: Benign Solvents, Less Hazardous Synthesis, and Design for Degradation.</a:t>
            </a:r>
            <a:endParaRPr lang="en-US" sz="1200" dirty="0"/>
          </a:p>
        </p:txBody>
      </p:sp>
      <p:sp>
        <p:nvSpPr>
          <p:cNvPr id="19" name="Shape 17"/>
          <p:cNvSpPr/>
          <p:nvPr/>
        </p:nvSpPr>
        <p:spPr>
          <a:xfrm>
            <a:off x="4343400" y="2496312"/>
            <a:ext cx="457200" cy="54864"/>
          </a:xfrm>
          <a:prstGeom prst="rect">
            <a:avLst/>
          </a:prstGeom>
          <a:solidFill>
            <a:srgbClr val="4FC3F7"/>
          </a:solidFill>
          <a:ln w="12700">
            <a:solidFill>
              <a:srgbClr val="4FC3F7"/>
            </a:solidFill>
            <a:prstDash val="solid"/>
          </a:ln>
        </p:spPr>
      </p:sp>
      <p:sp>
        <p:nvSpPr>
          <p:cNvPr id="20" name="Shape 18"/>
          <p:cNvSpPr/>
          <p:nvPr/>
        </p:nvSpPr>
        <p:spPr>
          <a:xfrm>
            <a:off x="4800600" y="2286000"/>
            <a:ext cx="502920" cy="502920"/>
          </a:xfrm>
          <a:prstGeom prst="ellipse">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21" name="Text 19"/>
          <p:cNvSpPr/>
          <p:nvPr/>
        </p:nvSpPr>
        <p:spPr>
          <a:xfrm>
            <a:off x="4800600" y="22860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Shape 20"/>
          <p:cNvSpPr/>
          <p:nvPr/>
        </p:nvSpPr>
        <p:spPr>
          <a:xfrm>
            <a:off x="5394960" y="2286000"/>
            <a:ext cx="370332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3" name="Text 21"/>
          <p:cNvSpPr/>
          <p:nvPr/>
        </p:nvSpPr>
        <p:spPr>
          <a:xfrm>
            <a:off x="5486400" y="2340864"/>
            <a:ext cx="352044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Critical Comparison</a:t>
            </a:r>
            <a:endParaRPr lang="en-US" sz="1400" dirty="0"/>
          </a:p>
        </p:txBody>
      </p:sp>
      <p:sp>
        <p:nvSpPr>
          <p:cNvPr id="24" name="Text 22"/>
          <p:cNvSpPr/>
          <p:nvPr/>
        </p:nvSpPr>
        <p:spPr>
          <a:xfrm>
            <a:off x="5486400" y="2633472"/>
            <a:ext cx="3520440" cy="71323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Compared methods for recovery efficiency, operational complexity, and suitability for Solapur's informal sector context.</a:t>
            </a:r>
            <a:endParaRPr lang="en-US" sz="1200" dirty="0"/>
          </a:p>
        </p:txBody>
      </p:sp>
      <p:sp>
        <p:nvSpPr>
          <p:cNvPr id="25" name="Shape 23"/>
          <p:cNvSpPr/>
          <p:nvPr/>
        </p:nvSpPr>
        <p:spPr>
          <a:xfrm>
            <a:off x="457200" y="3703320"/>
            <a:ext cx="502920" cy="502920"/>
          </a:xfrm>
          <a:prstGeom prst="ellipse">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26" name="Text 24"/>
          <p:cNvSpPr/>
          <p:nvPr/>
        </p:nvSpPr>
        <p:spPr>
          <a:xfrm>
            <a:off x="457200" y="370332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Shape 25"/>
          <p:cNvSpPr/>
          <p:nvPr/>
        </p:nvSpPr>
        <p:spPr>
          <a:xfrm>
            <a:off x="1051560" y="3703320"/>
            <a:ext cx="370332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8" name="Text 26"/>
          <p:cNvSpPr/>
          <p:nvPr/>
        </p:nvSpPr>
        <p:spPr>
          <a:xfrm>
            <a:off x="1143000" y="3758184"/>
            <a:ext cx="352044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Gap Identification</a:t>
            </a:r>
            <a:endParaRPr lang="en-US" sz="1400" dirty="0"/>
          </a:p>
        </p:txBody>
      </p:sp>
      <p:sp>
        <p:nvSpPr>
          <p:cNvPr id="29" name="Text 27"/>
          <p:cNvSpPr/>
          <p:nvPr/>
        </p:nvSpPr>
        <p:spPr>
          <a:xfrm>
            <a:off x="1143000" y="4050792"/>
            <a:ext cx="3520440" cy="71323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Identified absence of Indian-specific feedstock data and techno-economic analysis for informal sector conditions.</a:t>
            </a:r>
            <a:endParaRPr lang="en-US" sz="1200" dirty="0"/>
          </a:p>
        </p:txBody>
      </p:sp>
      <p:sp>
        <p:nvSpPr>
          <p:cNvPr id="30" name="Shape 28"/>
          <p:cNvSpPr/>
          <p:nvPr/>
        </p:nvSpPr>
        <p:spPr>
          <a:xfrm>
            <a:off x="4343400" y="3913632"/>
            <a:ext cx="457200" cy="54864"/>
          </a:xfrm>
          <a:prstGeom prst="rect">
            <a:avLst/>
          </a:prstGeom>
          <a:solidFill>
            <a:srgbClr val="4FC3F7"/>
          </a:solidFill>
          <a:ln w="12700">
            <a:solidFill>
              <a:srgbClr val="4FC3F7"/>
            </a:solidFill>
            <a:prstDash val="solid"/>
          </a:ln>
        </p:spPr>
      </p:sp>
      <p:sp>
        <p:nvSpPr>
          <p:cNvPr id="31" name="Shape 29"/>
          <p:cNvSpPr/>
          <p:nvPr/>
        </p:nvSpPr>
        <p:spPr>
          <a:xfrm>
            <a:off x="4800600" y="3703320"/>
            <a:ext cx="502920" cy="502920"/>
          </a:xfrm>
          <a:prstGeom prst="ellipse">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32" name="Text 30"/>
          <p:cNvSpPr/>
          <p:nvPr/>
        </p:nvSpPr>
        <p:spPr>
          <a:xfrm>
            <a:off x="4800600" y="370332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Shape 31"/>
          <p:cNvSpPr/>
          <p:nvPr/>
        </p:nvSpPr>
        <p:spPr>
          <a:xfrm>
            <a:off x="5394960" y="3703320"/>
            <a:ext cx="370332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34" name="Text 32"/>
          <p:cNvSpPr/>
          <p:nvPr/>
        </p:nvSpPr>
        <p:spPr>
          <a:xfrm>
            <a:off x="5486400" y="3758184"/>
            <a:ext cx="352044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Synthesis &amp; Recommendation</a:t>
            </a:r>
            <a:endParaRPr lang="en-US" sz="1400" dirty="0"/>
          </a:p>
        </p:txBody>
      </p:sp>
      <p:sp>
        <p:nvSpPr>
          <p:cNvPr id="35" name="Text 33"/>
          <p:cNvSpPr/>
          <p:nvPr/>
        </p:nvSpPr>
        <p:spPr>
          <a:xfrm>
            <a:off x="5486400" y="4050792"/>
            <a:ext cx="3520440" cy="71323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Proposed phased hybrid architecture: mechanochemical → DES → bioleaching, with nonmetallic fraction valorisation.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Results: Metal Recovery Efficiency by Method</a:t>
            </a:r>
            <a:endParaRPr lang="en-US" sz="2800" dirty="0"/>
          </a:p>
        </p:txBody>
      </p:sp>
      <p:graphicFrame>
        <p:nvGraphicFramePr>
          <p:cNvPr id="3" name="Chart 0"/>
          <p:cNvGraphicFramePr/>
          <p:nvPr/>
        </p:nvGraphicFramePr>
        <p:xfrm>
          <a:off x="457200" y="822960"/>
          <a:ext cx="8229600" cy="39319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Results: Comparative Analysis</a:t>
            </a:r>
            <a:endParaRPr lang="en-US" sz="2800" dirty="0"/>
          </a:p>
        </p:txBody>
      </p:sp>
      <p:graphicFrame>
        <p:nvGraphicFramePr>
          <p:cNvPr id="3" name="Chart 0"/>
          <p:cNvGraphicFramePr/>
          <p:nvPr/>
        </p:nvGraphicFramePr>
        <p:xfrm>
          <a:off x="365760" y="777240"/>
          <a:ext cx="4572000" cy="3749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74920" y="868680"/>
          <a:ext cx="3657600" cy="3474720"/>
        </p:xfrm>
        <a:graphic>
          <a:graphicData uri="http://schemas.openxmlformats.org/drawingml/2006/table">
            <a:tbl>
              <a:tblPr/>
              <a:tblGrid>
                <a:gridCol w="1371600">
                  <a:extLst>
                    <a:ext uri="{9D8B030D-6E8A-4147-A177-3AD203B41FA5}">
                      <a16:colId xmlns:a16="http://schemas.microsoft.com/office/drawing/2014/main" val="20000"/>
                    </a:ext>
                  </a:extLst>
                </a:gridCol>
                <a:gridCol w="768096">
                  <a:extLst>
                    <a:ext uri="{9D8B030D-6E8A-4147-A177-3AD203B41FA5}">
                      <a16:colId xmlns:a16="http://schemas.microsoft.com/office/drawing/2014/main" val="20001"/>
                    </a:ext>
                  </a:extLst>
                </a:gridCol>
                <a:gridCol w="768096">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tblGrid>
              <a:tr h="502920">
                <a:tc>
                  <a:txBody>
                    <a:bodyPr/>
                    <a:lstStyle/>
                    <a:p>
                      <a:pPr marL="0" indent="0">
                        <a:buNone/>
                      </a:pPr>
                      <a:r>
                        <a:rPr lang="en-US" sz="1200" b="1" dirty="0">
                          <a:solidFill>
                            <a:srgbClr val="FFFFFF"/>
                          </a:solidFill>
                        </a:rPr>
                        <a:t>Criteria</a:t>
                      </a:r>
                      <a:endParaRPr lang="en-US" sz="12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DES</a:t>
                      </a:r>
                      <a:endParaRPr lang="en-US" sz="12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Bioleaching</a:t>
                      </a:r>
                      <a:endParaRPr lang="en-US" sz="12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Mechanochem.</a:t>
                      </a:r>
                      <a:endParaRPr lang="en-US" sz="12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000000"/>
                          </a:solidFill>
                        </a:rPr>
                        <a:t>Precious metal recovery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80-95%</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55-69%</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~60%</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00" dirty="0">
                          <a:solidFill>
                            <a:srgbClr val="000000"/>
                          </a:solidFill>
                        </a:rPr>
                        <a:t>Base metal recovery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b="1" dirty="0">
                          <a:solidFill>
                            <a:srgbClr val="1B7A34"/>
                          </a:solidFill>
                        </a:rPr>
                        <a:t>90-100%</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dirty="0">
                          <a:solidFill>
                            <a:srgbClr val="000000"/>
                          </a:solidFill>
                        </a:rPr>
                        <a:t>&gt;80%</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b="1" dirty="0">
                          <a:solidFill>
                            <a:srgbClr val="1B7A34"/>
                          </a:solidFill>
                        </a:rPr>
                        <a:t>95%</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2"/>
                  </a:ext>
                </a:extLst>
              </a:tr>
              <a:tr h="502920">
                <a:tc>
                  <a:txBody>
                    <a:bodyPr/>
                    <a:lstStyle/>
                    <a:p>
                      <a:pPr marL="0" indent="0">
                        <a:buNone/>
                      </a:pPr>
                      <a:r>
                        <a:rPr lang="en-US" sz="1100" dirty="0">
                          <a:solidFill>
                            <a:srgbClr val="000000"/>
                          </a:solidFill>
                        </a:rPr>
                        <a:t>Toxic waste generated</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Minimal</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None</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None</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00" dirty="0">
                          <a:solidFill>
                            <a:srgbClr val="000000"/>
                          </a:solidFill>
                        </a:rPr>
                        <a:t>Deployment complexity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dirty="0">
                          <a:solidFill>
                            <a:srgbClr val="000000"/>
                          </a:solidFill>
                        </a:rPr>
                        <a:t>Medium</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dirty="0">
                          <a:solidFill>
                            <a:srgbClr val="000000"/>
                          </a:solidFill>
                        </a:rPr>
                        <a:t>Medium-High</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b="1" dirty="0">
                          <a:solidFill>
                            <a:srgbClr val="1B7A34"/>
                          </a:solidFill>
                        </a:rPr>
                        <a:t>Low</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4"/>
                  </a:ext>
                </a:extLst>
              </a:tr>
              <a:tr h="502920">
                <a:tc>
                  <a:txBody>
                    <a:bodyPr/>
                    <a:lstStyle/>
                    <a:p>
                      <a:pPr marL="0" indent="0">
                        <a:buNone/>
                      </a:pPr>
                      <a:r>
                        <a:rPr lang="en-US" sz="1100" dirty="0">
                          <a:solidFill>
                            <a:srgbClr val="000000"/>
                          </a:solidFill>
                        </a:rPr>
                        <a:t>Suitable for Solapur</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Phase 2</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Phase 2-3</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Phase 1 ✓</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0292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Key Studies in E-Waste Green Chemistry</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685800"/>
          <a:ext cx="8412480" cy="4160520"/>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62280">
                <a:tc>
                  <a:txBody>
                    <a:bodyPr/>
                    <a:lstStyle/>
                    <a:p>
                      <a:pPr marL="0" indent="0">
                        <a:buNone/>
                      </a:pPr>
                      <a:r>
                        <a:rPr lang="en-US" sz="1100" b="1" dirty="0">
                          <a:solidFill>
                            <a:srgbClr val="FFFFFF"/>
                          </a:solidFill>
                        </a:rPr>
                        <a:t>Author(s) &amp; Year</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Method / System</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Key Result</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Relevance to Solapur</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62280">
                <a:tc>
                  <a:txBody>
                    <a:bodyPr/>
                    <a:lstStyle/>
                    <a:p>
                      <a:pPr marL="0" indent="0">
                        <a:buNone/>
                      </a:pPr>
                      <a:r>
                        <a:rPr lang="en-US" sz="1000" dirty="0">
                          <a:solidFill>
                            <a:srgbClr val="000000"/>
                          </a:solidFill>
                        </a:rPr>
                        <a:t>Amusa et al. (2026)</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DES &amp; Ionic Liquids review (150+ studies)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100% Li, 99.6% Co, 95%+ Au/Cu recovery</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Strongest evidence for DES adoption</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2280">
                <a:tc>
                  <a:txBody>
                    <a:bodyPr/>
                    <a:lstStyle/>
                    <a:p>
                      <a:pPr marL="0" indent="0">
                        <a:buNone/>
                      </a:pPr>
                      <a:r>
                        <a:rPr lang="en-US" sz="1000" dirty="0">
                          <a:solidFill>
                            <a:srgbClr val="000000"/>
                          </a:solidFill>
                        </a:rPr>
                        <a:t>Tran et al. / Nat. Energy (2019)</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DES on Li-ion battery cathodes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&gt;90% Co &amp; Li; solvent regenerated 5+ cycles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Validates real-world multi-cycle use</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2"/>
                  </a:ext>
                </a:extLst>
              </a:tr>
              <a:tr h="462280">
                <a:tc>
                  <a:txBody>
                    <a:bodyPr/>
                    <a:lstStyle/>
                    <a:p>
                      <a:pPr marL="0" indent="0">
                        <a:buNone/>
                      </a:pPr>
                      <a:r>
                        <a:rPr lang="en-US" sz="1000" dirty="0">
                          <a:solidFill>
                            <a:srgbClr val="000000"/>
                          </a:solidFill>
                        </a:rPr>
                        <a:t>Pathak et al. (2021)</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Fungal bioleaching (Aspergillus niger)</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85% Cu at pH 4-6; 20% pulp density tolerated</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Best near-term informal option; no acid dosing</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2280">
                <a:tc>
                  <a:txBody>
                    <a:bodyPr/>
                    <a:lstStyle/>
                    <a:p>
                      <a:pPr marL="0" indent="0">
                        <a:buNone/>
                      </a:pPr>
                      <a:r>
                        <a:rPr lang="en-US" sz="1000" dirty="0">
                          <a:solidFill>
                            <a:srgbClr val="000000"/>
                          </a:solidFill>
                        </a:rPr>
                        <a:t>Guo et al. (2015)</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Ball milling + Na₂CO₃ mechanochemical</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&gt;95% Cu via water leaching at room temp</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Phase 1 deployment; no liquid acid waste</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4"/>
                  </a:ext>
                </a:extLst>
              </a:tr>
              <a:tr h="462280">
                <a:tc>
                  <a:txBody>
                    <a:bodyPr/>
                    <a:lstStyle/>
                    <a:p>
                      <a:pPr marL="0" indent="0">
                        <a:buNone/>
                      </a:pPr>
                      <a:r>
                        <a:rPr lang="en-US" sz="1000" dirty="0">
                          <a:solidFill>
                            <a:srgbClr val="000000"/>
                          </a:solidFill>
                        </a:rPr>
                        <a:t>Hubbard et al. / Nat. Sustain. (2024)</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Vitrimer-based recyclable PCBs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Full recyclability; 11 env. categories reduced</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Long-term design-for-degradation model</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2280">
                <a:tc>
                  <a:txBody>
                    <a:bodyPr/>
                    <a:lstStyle/>
                    <a:p>
                      <a:pPr marL="0" indent="0">
                        <a:buNone/>
                      </a:pPr>
                      <a:r>
                        <a:rPr lang="en-US" sz="1000" dirty="0">
                          <a:solidFill>
                            <a:srgbClr val="000000"/>
                          </a:solidFill>
                        </a:rPr>
                        <a:t>Sycheva et al. (2022)</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PLA-substrate biodegradable PCBs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95% PLA + 100% glass/Cu/components recovered</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Near-zero hazardous by-products at EOL</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6"/>
                  </a:ext>
                </a:extLst>
              </a:tr>
              <a:tr h="462280">
                <a:tc>
                  <a:txBody>
                    <a:bodyPr/>
                    <a:lstStyle/>
                    <a:p>
                      <a:pPr marL="0" indent="0">
                        <a:buNone/>
                      </a:pPr>
                      <a:r>
                        <a:rPr lang="en-US" sz="1000" dirty="0">
                          <a:solidFill>
                            <a:srgbClr val="000000"/>
                          </a:solidFill>
                        </a:rPr>
                        <a:t>Li et al. (2019)</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Life cycle analysis of DES vs pyrometallurgy</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40-60% lower GWP; 70% lower acidification</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Environmental case for switching to DES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2280">
                <a:tc>
                  <a:txBody>
                    <a:bodyPr/>
                    <a:lstStyle/>
                    <a:p>
                      <a:pPr marL="0" indent="0">
                        <a:buNone/>
                      </a:pPr>
                      <a:r>
                        <a:rPr lang="en-US" sz="1000" dirty="0">
                          <a:solidFill>
                            <a:srgbClr val="000000"/>
                          </a:solidFill>
                        </a:rPr>
                        <a:t>Zhou et al. (2026)</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Autocatalytic leaching (PMS/KCl aqueous)</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98.2% Au in 20 min, ambient temp, no catalyst</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000" dirty="0">
                          <a:solidFill>
                            <a:srgbClr val="000000"/>
                          </a:solidFill>
                        </a:rPr>
                        <a:t>Safe ambient-temp Au recovery for informal use</a:t>
                      </a:r>
                      <a:endParaRPr lang="en-US" sz="10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8"/>
                  </a:ext>
                </a:extLst>
              </a:tr>
            </a:tbl>
          </a:graphicData>
        </a:graphic>
      </p:graphicFrame>
      <p:sp>
        <p:nvSpPr>
          <p:cNvPr id="4" name="Text 1"/>
          <p:cNvSpPr/>
          <p:nvPr/>
        </p:nvSpPr>
        <p:spPr>
          <a:xfrm>
            <a:off x="365760" y="4892040"/>
            <a:ext cx="8412480" cy="201168"/>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Source: Synthesized from 28 peer-reviewed studies reviewed in this literature analysis (2001–2026)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Discussion &amp; Analysis</a:t>
            </a:r>
            <a:endParaRPr lang="en-US" sz="3000" dirty="0"/>
          </a:p>
        </p:txBody>
      </p:sp>
      <p:sp>
        <p:nvSpPr>
          <p:cNvPr id="3" name="Shape 1"/>
          <p:cNvSpPr/>
          <p:nvPr/>
        </p:nvSpPr>
        <p:spPr>
          <a:xfrm>
            <a:off x="365760" y="804672"/>
            <a:ext cx="2697480" cy="109728"/>
          </a:xfrm>
          <a:prstGeom prst="rect">
            <a:avLst/>
          </a:prstGeom>
          <a:solidFill>
            <a:srgbClr val="1E2761"/>
          </a:solidFill>
          <a:ln w="12700">
            <a:solidFill>
              <a:srgbClr val="1E2761"/>
            </a:solidFill>
            <a:prstDash val="solid"/>
          </a:ln>
        </p:spPr>
      </p:sp>
      <p:sp>
        <p:nvSpPr>
          <p:cNvPr id="4" name="Shape 2"/>
          <p:cNvSpPr/>
          <p:nvPr/>
        </p:nvSpPr>
        <p:spPr>
          <a:xfrm>
            <a:off x="365760" y="914400"/>
            <a:ext cx="2697480" cy="39319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5" name="Text 3"/>
          <p:cNvSpPr/>
          <p:nvPr/>
        </p:nvSpPr>
        <p:spPr>
          <a:xfrm>
            <a:off x="502920" y="1005840"/>
            <a:ext cx="2423160" cy="347472"/>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What Works</a:t>
            </a:r>
            <a:endParaRPr lang="en-US" sz="1600" dirty="0"/>
          </a:p>
        </p:txBody>
      </p:sp>
      <p:sp>
        <p:nvSpPr>
          <p:cNvPr id="6" name="Text 4"/>
          <p:cNvSpPr/>
          <p:nvPr/>
        </p:nvSpPr>
        <p:spPr>
          <a:xfrm>
            <a:off x="502920" y="1417320"/>
            <a:ext cx="2423160" cy="329184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All three pillars (DES, bioleaching, mechanochemical) satisfy Green Chemistry Principles and eliminate open burning/acid leaching. DES achieves highest precious metal selectivity. Mechanochemical is most immediately deployable. Fungal bioleaching avoids strict pH control — ideal for informal Solapur operations.</a:t>
            </a:r>
            <a:endParaRPr lang="en-US" sz="1250" dirty="0"/>
          </a:p>
        </p:txBody>
      </p:sp>
      <p:sp>
        <p:nvSpPr>
          <p:cNvPr id="7" name="Shape 5"/>
          <p:cNvSpPr/>
          <p:nvPr/>
        </p:nvSpPr>
        <p:spPr>
          <a:xfrm>
            <a:off x="3200400" y="804672"/>
            <a:ext cx="2697480" cy="109728"/>
          </a:xfrm>
          <a:prstGeom prst="rect">
            <a:avLst/>
          </a:prstGeom>
          <a:solidFill>
            <a:srgbClr val="4FC3F7"/>
          </a:solidFill>
          <a:ln w="12700">
            <a:solidFill>
              <a:srgbClr val="4FC3F7"/>
            </a:solidFill>
            <a:prstDash val="solid"/>
          </a:ln>
        </p:spPr>
      </p:sp>
      <p:sp>
        <p:nvSpPr>
          <p:cNvPr id="8" name="Shape 6"/>
          <p:cNvSpPr/>
          <p:nvPr/>
        </p:nvSpPr>
        <p:spPr>
          <a:xfrm>
            <a:off x="3200400" y="914400"/>
            <a:ext cx="2697480" cy="39319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9" name="Text 7"/>
          <p:cNvSpPr/>
          <p:nvPr/>
        </p:nvSpPr>
        <p:spPr>
          <a:xfrm>
            <a:off x="3337560" y="1005840"/>
            <a:ext cx="2423160" cy="347472"/>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Critical Gaps</a:t>
            </a:r>
            <a:endParaRPr lang="en-US" sz="1600" dirty="0"/>
          </a:p>
        </p:txBody>
      </p:sp>
      <p:sp>
        <p:nvSpPr>
          <p:cNvPr id="10" name="Text 8"/>
          <p:cNvSpPr/>
          <p:nvPr/>
        </p:nvSpPr>
        <p:spPr>
          <a:xfrm>
            <a:off x="3337560" y="1417320"/>
            <a:ext cx="2423160" cy="329184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No existing studies use Indian e-waste feedstock (Indian electronics differ in solder alloys and polymer substrate types). No techno-economic analysis exists for Indian informal sector cost structure. Solapur has zero published e-waste characterisation data — a direct opportunity for original research.</a:t>
            </a:r>
            <a:endParaRPr lang="en-US" sz="1250" dirty="0"/>
          </a:p>
        </p:txBody>
      </p:sp>
      <p:sp>
        <p:nvSpPr>
          <p:cNvPr id="11" name="Shape 9"/>
          <p:cNvSpPr/>
          <p:nvPr/>
        </p:nvSpPr>
        <p:spPr>
          <a:xfrm>
            <a:off x="6035040" y="804672"/>
            <a:ext cx="2697480" cy="109728"/>
          </a:xfrm>
          <a:prstGeom prst="rect">
            <a:avLst/>
          </a:prstGeom>
          <a:solidFill>
            <a:srgbClr val="4CAF50"/>
          </a:solidFill>
          <a:ln w="12700">
            <a:solidFill>
              <a:srgbClr val="4CAF50"/>
            </a:solidFill>
            <a:prstDash val="solid"/>
          </a:ln>
        </p:spPr>
      </p:sp>
      <p:sp>
        <p:nvSpPr>
          <p:cNvPr id="12" name="Shape 10"/>
          <p:cNvSpPr/>
          <p:nvPr/>
        </p:nvSpPr>
        <p:spPr>
          <a:xfrm>
            <a:off x="6035040" y="914400"/>
            <a:ext cx="2697480" cy="39319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3" name="Text 11"/>
          <p:cNvSpPr/>
          <p:nvPr/>
        </p:nvSpPr>
        <p:spPr>
          <a:xfrm>
            <a:off x="6172200" y="1005840"/>
            <a:ext cx="2423160" cy="347472"/>
          </a:xfrm>
          <a:prstGeom prst="rect">
            <a:avLst/>
          </a:prstGeom>
          <a:noFill/>
          <a:ln/>
        </p:spPr>
        <p:txBody>
          <a:bodyPr wrap="square" rtlCol="0" anchor="ctr"/>
          <a:lstStyle/>
          <a:p>
            <a:pPr marL="0" indent="0">
              <a:buNone/>
            </a:pPr>
            <a:r>
              <a:rPr lang="en-US" sz="1600" b="1" dirty="0">
                <a:solidFill>
                  <a:srgbClr val="4CAF50"/>
                </a:solidFill>
                <a:latin typeface="Calibri" pitchFamily="34" charset="0"/>
                <a:ea typeface="Calibri" pitchFamily="34" charset="-122"/>
                <a:cs typeface="Calibri" pitchFamily="34" charset="-120"/>
              </a:rPr>
              <a:t>Recommended Path</a:t>
            </a:r>
            <a:endParaRPr lang="en-US" sz="1600" dirty="0"/>
          </a:p>
        </p:txBody>
      </p:sp>
      <p:sp>
        <p:nvSpPr>
          <p:cNvPr id="14" name="Text 12"/>
          <p:cNvSpPr/>
          <p:nvPr/>
        </p:nvSpPr>
        <p:spPr>
          <a:xfrm>
            <a:off x="6172200" y="1417320"/>
            <a:ext cx="2423160" cy="329184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Phased hybrid architecture: Phase 1 — mechanochemical pretreatment (ball milling). Phase 2 — DES for gold/silver. Phase 3 — fungal bioleaching for base metals. Nonmetallic fraction (70% of PCB mass) valorised as composite filler. E-Waste Management Rules 2022 provide regulatory support.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C3F7"/>
          </a:solidFill>
          <a:ln w="12700">
            <a:solidFill>
              <a:srgbClr val="4FC3F7"/>
            </a:solidFill>
            <a:prstDash val="solid"/>
          </a:ln>
        </p:spPr>
      </p:sp>
      <p:sp>
        <p:nvSpPr>
          <p:cNvPr id="3" name="Text 1"/>
          <p:cNvSpPr/>
          <p:nvPr/>
        </p:nvSpPr>
        <p:spPr>
          <a:xfrm>
            <a:off x="640080" y="274320"/>
            <a:ext cx="7863840" cy="1325880"/>
          </a:xfrm>
          <a:prstGeom prst="rect">
            <a:avLst/>
          </a:prstGeom>
          <a:noFill/>
          <a:ln/>
        </p:spPr>
        <p:txBody>
          <a:bodyPr wrap="square" rtlCol="0" anchor="ctr"/>
          <a:lstStyle/>
          <a:p>
            <a:pPr marL="0" indent="0" algn="ctr">
              <a:buNone/>
            </a:pPr>
            <a:r>
              <a:rPr lang="en-US" sz="1900" i="1" dirty="0">
                <a:solidFill>
                  <a:srgbClr val="4FC3F7"/>
                </a:solidFill>
                <a:latin typeface="Cambria" pitchFamily="34" charset="0"/>
                <a:ea typeface="Cambria" pitchFamily="34" charset="-122"/>
                <a:cs typeface="Cambria" pitchFamily="34" charset="-120"/>
              </a:rPr>
              <a:t>Green chemistry solutions for safer e-waste dismantling in Solapur are technically validated, economically competitive, and policy-supported — the barrier is implementation, not technology.</a:t>
            </a:r>
            <a:endParaRPr lang="en-US" sz="1900" dirty="0"/>
          </a:p>
        </p:txBody>
      </p:sp>
      <p:sp>
        <p:nvSpPr>
          <p:cNvPr id="4" name="Shape 2"/>
          <p:cNvSpPr/>
          <p:nvPr/>
        </p:nvSpPr>
        <p:spPr>
          <a:xfrm>
            <a:off x="3200400" y="1719072"/>
            <a:ext cx="2743200" cy="36576"/>
          </a:xfrm>
          <a:prstGeom prst="rect">
            <a:avLst/>
          </a:prstGeom>
          <a:solidFill>
            <a:srgbClr val="4FC3F7"/>
          </a:solidFill>
          <a:ln w="12700">
            <a:solidFill>
              <a:srgbClr val="4FC3F7"/>
            </a:solidFill>
            <a:prstDash val="solid"/>
          </a:ln>
        </p:spPr>
      </p:sp>
      <p:sp>
        <p:nvSpPr>
          <p:cNvPr id="5" name="Shape 3"/>
          <p:cNvSpPr/>
          <p:nvPr/>
        </p:nvSpPr>
        <p:spPr>
          <a:xfrm>
            <a:off x="1325880" y="1874520"/>
            <a:ext cx="685800" cy="685800"/>
          </a:xfrm>
          <a:prstGeom prst="ellipse">
            <a:avLst/>
          </a:prstGeom>
          <a:solidFill>
            <a:srgbClr val="4FC3F7"/>
          </a:solidFill>
          <a:ln w="12700">
            <a:solidFill>
              <a:srgbClr val="4FC3F7"/>
            </a:solidFill>
            <a:prstDash val="solid"/>
          </a:ln>
          <a:effectLst>
            <a:outerShdw blurRad="101600" dist="25400" dir="8100000" algn="bl" rotWithShape="0">
              <a:srgbClr val="000000">
                <a:alpha val="12000"/>
              </a:srgbClr>
            </a:outerShdw>
          </a:effectLst>
        </p:spPr>
      </p:sp>
      <p:sp>
        <p:nvSpPr>
          <p:cNvPr id="6" name="Text 4"/>
          <p:cNvSpPr/>
          <p:nvPr/>
        </p:nvSpPr>
        <p:spPr>
          <a:xfrm>
            <a:off x="1325880" y="1874520"/>
            <a:ext cx="685800" cy="685800"/>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457200" y="2651760"/>
            <a:ext cx="2606040" cy="347472"/>
          </a:xfrm>
          <a:prstGeom prst="rect">
            <a:avLst/>
          </a:prstGeom>
          <a:noFill/>
          <a:ln/>
        </p:spPr>
        <p:txBody>
          <a:bodyPr wrap="square" rtlCol="0" anchor="ctr"/>
          <a:lstStyle/>
          <a:p>
            <a:pPr marL="0" indent="0" algn="ctr">
              <a:buNone/>
            </a:pPr>
            <a:r>
              <a:rPr lang="en-US" sz="1400" b="1" dirty="0">
                <a:solidFill>
                  <a:srgbClr val="4FC3F7"/>
                </a:solidFill>
                <a:latin typeface="Calibri" pitchFamily="34" charset="0"/>
                <a:ea typeface="Calibri" pitchFamily="34" charset="-122"/>
                <a:cs typeface="Calibri" pitchFamily="34" charset="-120"/>
              </a:rPr>
              <a:t>Benign Solvents Proven</a:t>
            </a:r>
            <a:endParaRPr lang="en-US" sz="1400" dirty="0"/>
          </a:p>
        </p:txBody>
      </p:sp>
      <p:sp>
        <p:nvSpPr>
          <p:cNvPr id="8" name="Text 6"/>
          <p:cNvSpPr/>
          <p:nvPr/>
        </p:nvSpPr>
        <p:spPr>
          <a:xfrm>
            <a:off x="457200" y="3017520"/>
            <a:ext cx="2606040" cy="18288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Deep eutectic solvents achieve 80-100% precious metal recovery with negligible toxicity under ambient conditions — ready for pilot in Solapur.</a:t>
            </a:r>
            <a:endParaRPr lang="en-US" sz="1200" dirty="0"/>
          </a:p>
        </p:txBody>
      </p:sp>
      <p:sp>
        <p:nvSpPr>
          <p:cNvPr id="9" name="Shape 7"/>
          <p:cNvSpPr/>
          <p:nvPr/>
        </p:nvSpPr>
        <p:spPr>
          <a:xfrm>
            <a:off x="4160520" y="1874520"/>
            <a:ext cx="685800" cy="685800"/>
          </a:xfrm>
          <a:prstGeom prst="ellipse">
            <a:avLst/>
          </a:prstGeom>
          <a:solidFill>
            <a:srgbClr val="4FC3F7"/>
          </a:solidFill>
          <a:ln w="12700">
            <a:solidFill>
              <a:srgbClr val="4FC3F7"/>
            </a:solidFill>
            <a:prstDash val="solid"/>
          </a:ln>
          <a:effectLst>
            <a:outerShdw blurRad="101600" dist="25400" dir="8100000" algn="bl" rotWithShape="0">
              <a:srgbClr val="000000">
                <a:alpha val="12000"/>
              </a:srgbClr>
            </a:outerShdw>
          </a:effectLst>
        </p:spPr>
      </p:sp>
      <p:sp>
        <p:nvSpPr>
          <p:cNvPr id="10" name="Text 8"/>
          <p:cNvSpPr/>
          <p:nvPr/>
        </p:nvSpPr>
        <p:spPr>
          <a:xfrm>
            <a:off x="4160520" y="1874520"/>
            <a:ext cx="685800" cy="685800"/>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3291840" y="2651760"/>
            <a:ext cx="2606040" cy="347472"/>
          </a:xfrm>
          <a:prstGeom prst="rect">
            <a:avLst/>
          </a:prstGeom>
          <a:noFill/>
          <a:ln/>
        </p:spPr>
        <p:txBody>
          <a:bodyPr wrap="square" rtlCol="0" anchor="ctr"/>
          <a:lstStyle/>
          <a:p>
            <a:pPr marL="0" indent="0" algn="ctr">
              <a:buNone/>
            </a:pPr>
            <a:r>
              <a:rPr lang="en-US" sz="1400" b="1" dirty="0">
                <a:solidFill>
                  <a:srgbClr val="4FC3F7"/>
                </a:solidFill>
                <a:latin typeface="Calibri" pitchFamily="34" charset="0"/>
                <a:ea typeface="Calibri" pitchFamily="34" charset="-122"/>
                <a:cs typeface="Calibri" pitchFamily="34" charset="-120"/>
              </a:rPr>
              <a:t>Safer Synthesis Exists</a:t>
            </a:r>
            <a:endParaRPr lang="en-US" sz="1400" dirty="0"/>
          </a:p>
        </p:txBody>
      </p:sp>
      <p:sp>
        <p:nvSpPr>
          <p:cNvPr id="12" name="Text 10"/>
          <p:cNvSpPr/>
          <p:nvPr/>
        </p:nvSpPr>
        <p:spPr>
          <a:xfrm>
            <a:off x="3291840" y="3017520"/>
            <a:ext cx="2606040" cy="18288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Fungal bioleaching and mechanochemical processing offer immediate entry points requiring no acid management, suitable for informal sector adoption.</a:t>
            </a:r>
            <a:endParaRPr lang="en-US" sz="1200" dirty="0"/>
          </a:p>
        </p:txBody>
      </p:sp>
      <p:sp>
        <p:nvSpPr>
          <p:cNvPr id="13" name="Shape 11"/>
          <p:cNvSpPr/>
          <p:nvPr/>
        </p:nvSpPr>
        <p:spPr>
          <a:xfrm>
            <a:off x="6995160" y="1874520"/>
            <a:ext cx="685800" cy="685800"/>
          </a:xfrm>
          <a:prstGeom prst="ellipse">
            <a:avLst/>
          </a:prstGeom>
          <a:solidFill>
            <a:srgbClr val="4FC3F7"/>
          </a:solidFill>
          <a:ln w="12700">
            <a:solidFill>
              <a:srgbClr val="4FC3F7"/>
            </a:solidFill>
            <a:prstDash val="solid"/>
          </a:ln>
          <a:effectLst>
            <a:outerShdw blurRad="101600" dist="25400" dir="8100000" algn="bl" rotWithShape="0">
              <a:srgbClr val="000000">
                <a:alpha val="12000"/>
              </a:srgbClr>
            </a:outerShdw>
          </a:effectLst>
        </p:spPr>
      </p:sp>
      <p:sp>
        <p:nvSpPr>
          <p:cNvPr id="14" name="Text 12"/>
          <p:cNvSpPr/>
          <p:nvPr/>
        </p:nvSpPr>
        <p:spPr>
          <a:xfrm>
            <a:off x="6995160" y="1874520"/>
            <a:ext cx="685800" cy="685800"/>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6126480" y="2651760"/>
            <a:ext cx="2606040" cy="347472"/>
          </a:xfrm>
          <a:prstGeom prst="rect">
            <a:avLst/>
          </a:prstGeom>
          <a:noFill/>
          <a:ln/>
        </p:spPr>
        <p:txBody>
          <a:bodyPr wrap="square" rtlCol="0" anchor="ctr"/>
          <a:lstStyle/>
          <a:p>
            <a:pPr marL="0" indent="0" algn="ctr">
              <a:buNone/>
            </a:pPr>
            <a:r>
              <a:rPr lang="en-US" sz="1400" b="1" dirty="0">
                <a:solidFill>
                  <a:srgbClr val="4FC3F7"/>
                </a:solidFill>
                <a:latin typeface="Calibri" pitchFamily="34" charset="0"/>
                <a:ea typeface="Calibri" pitchFamily="34" charset="-122"/>
                <a:cs typeface="Calibri" pitchFamily="34" charset="-120"/>
              </a:rPr>
              <a:t>Design for Degradation Advancing</a:t>
            </a:r>
            <a:endParaRPr lang="en-US" sz="1400" dirty="0"/>
          </a:p>
        </p:txBody>
      </p:sp>
      <p:sp>
        <p:nvSpPr>
          <p:cNvPr id="16" name="Text 14"/>
          <p:cNvSpPr/>
          <p:nvPr/>
        </p:nvSpPr>
        <p:spPr>
          <a:xfrm>
            <a:off x="6126480" y="3017520"/>
            <a:ext cx="2606040" cy="18288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PLA-PCBs and vitrimer-based boards enable near-zero-hazard end-of-life recovery. E-Waste Rules 2022 drive regulatory momentum for adoption.</a:t>
            </a:r>
            <a:endParaRPr lang="en-US" sz="1200" dirty="0"/>
          </a:p>
        </p:txBody>
      </p:sp>
      <p:sp>
        <p:nvSpPr>
          <p:cNvPr id="17" name="Shape 15"/>
          <p:cNvSpPr/>
          <p:nvPr/>
        </p:nvSpPr>
        <p:spPr>
          <a:xfrm>
            <a:off x="0" y="5065776"/>
            <a:ext cx="9144000" cy="77724"/>
          </a:xfrm>
          <a:prstGeom prst="rect">
            <a:avLst/>
          </a:prstGeom>
          <a:solidFill>
            <a:srgbClr val="4FC3F7"/>
          </a:solidFill>
          <a:ln w="12700">
            <a:solidFill>
              <a:srgbClr val="4FC3F7"/>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09728"/>
            <a:ext cx="8229600" cy="502920"/>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References</a:t>
            </a:r>
            <a:endParaRPr lang="en-US" sz="3000" dirty="0"/>
          </a:p>
        </p:txBody>
      </p:sp>
      <p:sp>
        <p:nvSpPr>
          <p:cNvPr id="3" name="Text 1"/>
          <p:cNvSpPr/>
          <p:nvPr/>
        </p:nvSpPr>
        <p:spPr>
          <a:xfrm>
            <a:off x="365760" y="685800"/>
            <a:ext cx="4114800" cy="4251960"/>
          </a:xfrm>
          <a:prstGeom prst="rect">
            <a:avLst/>
          </a:prstGeom>
          <a:noFill/>
          <a:ln/>
        </p:spPr>
        <p:txBody>
          <a:bodyPr wrap="square" rtlCol="0" anchor="t"/>
          <a:lstStyle/>
          <a:p>
            <a:pPr marL="0" indent="0">
              <a:buNone/>
            </a:pPr>
            <a:r>
              <a:rPr lang="en-US" sz="900" dirty="0">
                <a:solidFill>
                  <a:srgbClr val="1A1A2E"/>
                </a:solidFill>
                <a:latin typeface="Calibri" pitchFamily="34" charset="0"/>
                <a:ea typeface="Calibri" pitchFamily="34" charset="-122"/>
                <a:cs typeface="Calibri" pitchFamily="34" charset="-120"/>
              </a:rPr>
              <a:t>1. Amusa et al. (2026). Advances in metal recovery from e-waste: DES &amp; ionic liquids. Sustainable Chemistry for the Environment, 13, 100307.</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2. Alsafasfeh et al. (2026). Extraction of metals from waste PCBs via DES of organic acids. Journal of Sustainable Metallurgy.</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3. Zhou et al. (2026). Green recovery of precious metals from e-waste via autocatalytic leaching. Angewandte Chemie.</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4. Guo et al. (2024). Sustainable recovery of metals from e-waste using deep eutectic solvents. Separation and Purification Technology.</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5. Hubbard et al. (2024). Recyclable vitrimer-based printed circuit boards. Nature Sustainability.</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6. Sycheva et al. (2022). A new approach to designing easily recyclable PCBs. Scientific Reports, 12, 22254.</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7. Forti et al. (2020). The Global E-waste Monitor 2020. United Nations University, Bonn.</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8. Tran et al. (2019). Deep eutectic solvents for cathode recycling of Li-ion batteries. Nature Energy, 4, 339-345.</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9. Smith et al. (2014). Deep eutectic solvents (DESs) and their applications. Chemical Reviews, 114(21), 11060-11082.</a:t>
            </a:r>
            <a:endParaRPr lang="en-US" sz="900" dirty="0"/>
          </a:p>
        </p:txBody>
      </p:sp>
      <p:sp>
        <p:nvSpPr>
          <p:cNvPr id="4" name="Text 2"/>
          <p:cNvSpPr/>
          <p:nvPr/>
        </p:nvSpPr>
        <p:spPr>
          <a:xfrm>
            <a:off x="4663440" y="685800"/>
            <a:ext cx="4114800" cy="4251960"/>
          </a:xfrm>
          <a:prstGeom prst="rect">
            <a:avLst/>
          </a:prstGeom>
          <a:noFill/>
          <a:ln/>
        </p:spPr>
        <p:txBody>
          <a:bodyPr wrap="square" rtlCol="0" anchor="t"/>
          <a:lstStyle/>
          <a:p>
            <a:pPr marL="0" indent="0">
              <a:buNone/>
            </a:pPr>
            <a:r>
              <a:rPr lang="en-US" sz="900" dirty="0">
                <a:solidFill>
                  <a:srgbClr val="1A1A2E"/>
                </a:solidFill>
                <a:latin typeface="Calibri" pitchFamily="34" charset="0"/>
                <a:ea typeface="Calibri" pitchFamily="34" charset="-122"/>
                <a:cs typeface="Calibri" pitchFamily="34" charset="-120"/>
              </a:rPr>
              <a:t>10. Jenkin et al. (2016). DES ionic liquids for dissolution and recovery of precious metals. Minerals Engineering, 87, 18-24.</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11. Pathak et al. (2021). Fungal bioleaching of e-waste. Journal of Hazardous Materials.</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12. Anastas, P.T.; Warner, J.C. (1998). Green Chemistry: Theory and Practice. Oxford University Press.</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13. Awasthi et al. (2016). Environmental pollution of electronic waste recycling in India. Environmental Pollution, 211, 259-270.</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14. Annamalai (2015). Occupational health hazards related to informal recycling of e-waste in India. Indian Journal of Occupational Medicine, 19(1), 61-65.</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15. Guo et al. (2015). Mechanochemical copper extraction from PCBs. Resources, Conservation and Recycling.</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16. Ilyas et al. (2010). Bacterial bioleaching: 80%+ Cu via mixed acidophilic consortia. Bioresource Technology.</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17. Cui &amp; Zhang (2008). Metallurgical recovery of metals from electronic waste. Journal of Hazardous Materials, 158, 228-256.</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18. Brandl et al. (2001). Bioleaching proof of concept from PCBs. Journal of Hazardous Materials.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C3F7"/>
          </a:solidFill>
          <a:ln w="12700">
            <a:solidFill>
              <a:srgbClr val="4FC3F7"/>
            </a:solidFill>
            <a:prstDash val="solid"/>
          </a:ln>
        </p:spPr>
      </p:sp>
      <p:sp>
        <p:nvSpPr>
          <p:cNvPr id="3" name="Text 1"/>
          <p:cNvSpPr/>
          <p:nvPr/>
        </p:nvSpPr>
        <p:spPr>
          <a:xfrm>
            <a:off x="457200" y="1097280"/>
            <a:ext cx="8229600" cy="128016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4" name="Shape 2"/>
          <p:cNvSpPr/>
          <p:nvPr/>
        </p:nvSpPr>
        <p:spPr>
          <a:xfrm>
            <a:off x="3200400" y="2487168"/>
            <a:ext cx="2743200" cy="45720"/>
          </a:xfrm>
          <a:prstGeom prst="rect">
            <a:avLst/>
          </a:prstGeom>
          <a:solidFill>
            <a:srgbClr val="4FC3F7"/>
          </a:solidFill>
          <a:ln w="12700">
            <a:solidFill>
              <a:srgbClr val="4FC3F7"/>
            </a:solidFill>
            <a:prstDash val="solid"/>
          </a:ln>
        </p:spPr>
      </p:sp>
      <p:sp>
        <p:nvSpPr>
          <p:cNvPr id="5" name="Text 3"/>
          <p:cNvSpPr/>
          <p:nvPr/>
        </p:nvSpPr>
        <p:spPr>
          <a:xfrm>
            <a:off x="457200" y="2651760"/>
            <a:ext cx="8229600" cy="457200"/>
          </a:xfrm>
          <a:prstGeom prst="rect">
            <a:avLst/>
          </a:prstGeom>
          <a:noFill/>
          <a:ln/>
        </p:spPr>
        <p:txBody>
          <a:bodyPr wrap="square" rtlCol="0" anchor="ctr"/>
          <a:lstStyle/>
          <a:p>
            <a:pPr marL="0" indent="0" algn="ctr">
              <a:buNone/>
            </a:pPr>
            <a:r>
              <a:rPr lang="en-US" sz="2200" dirty="0">
                <a:solidFill>
                  <a:srgbClr val="4FC3F7"/>
                </a:solidFill>
                <a:latin typeface="Calibri" pitchFamily="34" charset="0"/>
                <a:ea typeface="Calibri" pitchFamily="34" charset="-122"/>
                <a:cs typeface="Calibri" pitchFamily="34" charset="-120"/>
              </a:rPr>
              <a:t>Questions &amp; Discussion</a:t>
            </a:r>
            <a:endParaRPr lang="en-US" sz="2200" dirty="0"/>
          </a:p>
        </p:txBody>
      </p:sp>
      <p:sp>
        <p:nvSpPr>
          <p:cNvPr id="6" name="Text 4"/>
          <p:cNvSpPr/>
          <p:nvPr/>
        </p:nvSpPr>
        <p:spPr>
          <a:xfrm>
            <a:off x="457200" y="3291840"/>
            <a:ext cx="8229600" cy="1005840"/>
          </a:xfrm>
          <a:prstGeom prst="rect">
            <a:avLst/>
          </a:prstGeom>
          <a:noFill/>
          <a:ln/>
        </p:spPr>
        <p:txBody>
          <a:bodyPr wrap="square"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Applied Chemistry for Engineers (AS-1201)</a:t>
            </a:r>
            <a:endParaRPr lang="en-US" sz="1500" dirty="0"/>
          </a:p>
          <a:p>
            <a:pPr marL="0" indent="0" algn="ctr">
              <a:buNone/>
            </a:pPr>
            <a:r>
              <a:rPr lang="en-US" sz="1500" dirty="0">
                <a:solidFill>
                  <a:srgbClr val="CADCFC"/>
                </a:solidFill>
                <a:latin typeface="Calibri" pitchFamily="34" charset="0"/>
                <a:ea typeface="Calibri" pitchFamily="34" charset="-122"/>
                <a:cs typeface="Calibri" pitchFamily="34" charset="-120"/>
              </a:rPr>
              <a:t>B.Tech CSE-AIML | Solapur, Maharashtra</a:t>
            </a:r>
            <a:endParaRPr lang="en-US" sz="1500" dirty="0"/>
          </a:p>
          <a:p>
            <a:pPr marL="0" indent="0" algn="ctr">
              <a:buNone/>
            </a:pPr>
            <a:r>
              <a:rPr lang="en-US" sz="1500" dirty="0">
                <a:solidFill>
                  <a:srgbClr val="CADCFC"/>
                </a:solidFill>
                <a:latin typeface="Calibri" pitchFamily="34" charset="0"/>
                <a:ea typeface="Calibri" pitchFamily="34" charset="-122"/>
                <a:cs typeface="Calibri" pitchFamily="34" charset="-120"/>
              </a:rPr>
              <a:t>Instructor: Prof. Veeranna Yempally  |  February 2026</a:t>
            </a:r>
            <a:endParaRPr lang="en-US" sz="1500" dirty="0"/>
          </a:p>
        </p:txBody>
      </p:sp>
      <p:sp>
        <p:nvSpPr>
          <p:cNvPr id="7" name="Shape 5"/>
          <p:cNvSpPr/>
          <p:nvPr/>
        </p:nvSpPr>
        <p:spPr>
          <a:xfrm>
            <a:off x="0" y="5065776"/>
            <a:ext cx="9144000" cy="77724"/>
          </a:xfrm>
          <a:prstGeom prst="rect">
            <a:avLst/>
          </a:prstGeom>
          <a:solidFill>
            <a:srgbClr val="4FC3F7"/>
          </a:solidFill>
          <a:ln w="12700">
            <a:solidFill>
              <a:srgbClr val="4FC3F7"/>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Health &amp; Environmental Hazards of Informal Dismantling</a:t>
            </a:r>
            <a:endParaRPr lang="en-US" sz="2600" dirty="0"/>
          </a:p>
        </p:txBody>
      </p:sp>
      <p:sp>
        <p:nvSpPr>
          <p:cNvPr id="3" name="Shape 1"/>
          <p:cNvSpPr/>
          <p:nvPr/>
        </p:nvSpPr>
        <p:spPr>
          <a:xfrm>
            <a:off x="457200" y="804672"/>
            <a:ext cx="64008" cy="768096"/>
          </a:xfrm>
          <a:prstGeom prst="rect">
            <a:avLst/>
          </a:prstGeom>
          <a:solidFill>
            <a:srgbClr val="1E2761"/>
          </a:solidFill>
          <a:ln w="12700">
            <a:solidFill>
              <a:srgbClr val="1E2761"/>
            </a:solidFill>
            <a:prstDash val="solid"/>
          </a:ln>
        </p:spPr>
      </p:sp>
      <p:sp>
        <p:nvSpPr>
          <p:cNvPr id="4" name="Shape 2"/>
          <p:cNvSpPr/>
          <p:nvPr/>
        </p:nvSpPr>
        <p:spPr>
          <a:xfrm>
            <a:off x="521208" y="804672"/>
            <a:ext cx="3657600" cy="768096"/>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5" name="Text 3"/>
          <p:cNvSpPr/>
          <p:nvPr/>
        </p:nvSpPr>
        <p:spPr>
          <a:xfrm>
            <a:off x="658368" y="841248"/>
            <a:ext cx="3429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Toxic Heavy Metals</a:t>
            </a:r>
            <a:endParaRPr lang="en-US" sz="1300" dirty="0"/>
          </a:p>
        </p:txBody>
      </p:sp>
      <p:sp>
        <p:nvSpPr>
          <p:cNvPr id="6" name="Text 4"/>
          <p:cNvSpPr/>
          <p:nvPr/>
        </p:nvSpPr>
        <p:spPr>
          <a:xfrm>
            <a:off x="658368" y="1106424"/>
            <a:ext cx="3429000" cy="42062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Pb, Cd, Hg, Cr, As released during acid stripping &amp; incineration</a:t>
            </a:r>
            <a:endParaRPr lang="en-US" sz="1100" dirty="0"/>
          </a:p>
        </p:txBody>
      </p:sp>
      <p:sp>
        <p:nvSpPr>
          <p:cNvPr id="7" name="Shape 5"/>
          <p:cNvSpPr/>
          <p:nvPr/>
        </p:nvSpPr>
        <p:spPr>
          <a:xfrm>
            <a:off x="457200" y="1719072"/>
            <a:ext cx="64008" cy="768096"/>
          </a:xfrm>
          <a:prstGeom prst="rect">
            <a:avLst/>
          </a:prstGeom>
          <a:solidFill>
            <a:srgbClr val="1E2761"/>
          </a:solidFill>
          <a:ln w="12700">
            <a:solidFill>
              <a:srgbClr val="1E2761"/>
            </a:solidFill>
            <a:prstDash val="solid"/>
          </a:ln>
        </p:spPr>
      </p:sp>
      <p:sp>
        <p:nvSpPr>
          <p:cNvPr id="8" name="Shape 6"/>
          <p:cNvSpPr/>
          <p:nvPr/>
        </p:nvSpPr>
        <p:spPr>
          <a:xfrm>
            <a:off x="521208" y="1719072"/>
            <a:ext cx="3657600" cy="768096"/>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9" name="Text 7"/>
          <p:cNvSpPr/>
          <p:nvPr/>
        </p:nvSpPr>
        <p:spPr>
          <a:xfrm>
            <a:off x="658368" y="1755648"/>
            <a:ext cx="3429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Respiratory Disease</a:t>
            </a:r>
            <a:endParaRPr lang="en-US" sz="1300" dirty="0"/>
          </a:p>
        </p:txBody>
      </p:sp>
      <p:sp>
        <p:nvSpPr>
          <p:cNvPr id="10" name="Text 8"/>
          <p:cNvSpPr/>
          <p:nvPr/>
        </p:nvSpPr>
        <p:spPr>
          <a:xfrm>
            <a:off x="658368" y="2020824"/>
            <a:ext cx="3429000" cy="42062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Open burning releases dioxins (PCDD/F) — 10-100× above safe thresholds (Huang et al., 2009)</a:t>
            </a:r>
            <a:endParaRPr lang="en-US" sz="1100" dirty="0"/>
          </a:p>
        </p:txBody>
      </p:sp>
      <p:sp>
        <p:nvSpPr>
          <p:cNvPr id="11" name="Shape 9"/>
          <p:cNvSpPr/>
          <p:nvPr/>
        </p:nvSpPr>
        <p:spPr>
          <a:xfrm>
            <a:off x="457200" y="2633472"/>
            <a:ext cx="64008" cy="768096"/>
          </a:xfrm>
          <a:prstGeom prst="rect">
            <a:avLst/>
          </a:prstGeom>
          <a:solidFill>
            <a:srgbClr val="1E2761"/>
          </a:solidFill>
          <a:ln w="12700">
            <a:solidFill>
              <a:srgbClr val="1E2761"/>
            </a:solidFill>
            <a:prstDash val="solid"/>
          </a:ln>
        </p:spPr>
      </p:sp>
      <p:sp>
        <p:nvSpPr>
          <p:cNvPr id="12" name="Shape 10"/>
          <p:cNvSpPr/>
          <p:nvPr/>
        </p:nvSpPr>
        <p:spPr>
          <a:xfrm>
            <a:off x="521208" y="2633472"/>
            <a:ext cx="3657600" cy="768096"/>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3" name="Text 11"/>
          <p:cNvSpPr/>
          <p:nvPr/>
        </p:nvSpPr>
        <p:spPr>
          <a:xfrm>
            <a:off x="658368" y="2670048"/>
            <a:ext cx="3429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Neurological Damage</a:t>
            </a:r>
            <a:endParaRPr lang="en-US" sz="1300" dirty="0"/>
          </a:p>
        </p:txBody>
      </p:sp>
      <p:sp>
        <p:nvSpPr>
          <p:cNvPr id="14" name="Text 12"/>
          <p:cNvSpPr/>
          <p:nvPr/>
        </p:nvSpPr>
        <p:spPr>
          <a:xfrm>
            <a:off x="658368" y="2935224"/>
            <a:ext cx="3429000" cy="42062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Blood lead levels in informal workers measured 3–10× safe reference values (Sthiannopkao &amp; Wong, 2013)</a:t>
            </a:r>
            <a:endParaRPr lang="en-US" sz="1100" dirty="0"/>
          </a:p>
        </p:txBody>
      </p:sp>
      <p:sp>
        <p:nvSpPr>
          <p:cNvPr id="15" name="Shape 13"/>
          <p:cNvSpPr/>
          <p:nvPr/>
        </p:nvSpPr>
        <p:spPr>
          <a:xfrm>
            <a:off x="457200" y="3547872"/>
            <a:ext cx="64008" cy="768096"/>
          </a:xfrm>
          <a:prstGeom prst="rect">
            <a:avLst/>
          </a:prstGeom>
          <a:solidFill>
            <a:srgbClr val="1E2761"/>
          </a:solidFill>
          <a:ln w="12700">
            <a:solidFill>
              <a:srgbClr val="1E2761"/>
            </a:solidFill>
            <a:prstDash val="solid"/>
          </a:ln>
        </p:spPr>
      </p:sp>
      <p:sp>
        <p:nvSpPr>
          <p:cNvPr id="16" name="Shape 14"/>
          <p:cNvSpPr/>
          <p:nvPr/>
        </p:nvSpPr>
        <p:spPr>
          <a:xfrm>
            <a:off x="521208" y="3547872"/>
            <a:ext cx="3657600" cy="768096"/>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7" name="Text 15"/>
          <p:cNvSpPr/>
          <p:nvPr/>
        </p:nvSpPr>
        <p:spPr>
          <a:xfrm>
            <a:off x="658368" y="3584448"/>
            <a:ext cx="3429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Soil &amp; Water Pollution</a:t>
            </a:r>
            <a:endParaRPr lang="en-US" sz="1300" dirty="0"/>
          </a:p>
        </p:txBody>
      </p:sp>
      <p:sp>
        <p:nvSpPr>
          <p:cNvPr id="18" name="Text 16"/>
          <p:cNvSpPr/>
          <p:nvPr/>
        </p:nvSpPr>
        <p:spPr>
          <a:xfrm>
            <a:off x="658368" y="3849624"/>
            <a:ext cx="3429000" cy="42062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Heavy metal concentrations in soil exceed WHO guidelines by 10–1,000× (Awasthi et al., 2016)</a:t>
            </a:r>
            <a:endParaRPr lang="en-US" sz="1100" dirty="0"/>
          </a:p>
        </p:txBody>
      </p:sp>
      <p:sp>
        <p:nvSpPr>
          <p:cNvPr id="19" name="Text 17"/>
          <p:cNvSpPr/>
          <p:nvPr/>
        </p:nvSpPr>
        <p:spPr>
          <a:xfrm>
            <a:off x="4663440" y="804672"/>
            <a:ext cx="402336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Exposure Pathways</a:t>
            </a:r>
            <a:endParaRPr lang="en-US" sz="1400" dirty="0"/>
          </a:p>
        </p:txBody>
      </p:sp>
      <p:sp>
        <p:nvSpPr>
          <p:cNvPr id="20" name="Shape 18"/>
          <p:cNvSpPr/>
          <p:nvPr/>
        </p:nvSpPr>
        <p:spPr>
          <a:xfrm>
            <a:off x="4663440" y="1170432"/>
            <a:ext cx="1737360" cy="1005840"/>
          </a:xfrm>
          <a:prstGeom prst="ellipse">
            <a:avLst/>
          </a:prstGeom>
          <a:solidFill>
            <a:srgbClr val="B71C1C"/>
          </a:solidFill>
          <a:ln w="12700">
            <a:solidFill>
              <a:srgbClr val="B71C1C"/>
            </a:solidFill>
            <a:prstDash val="solid"/>
          </a:ln>
          <a:effectLst>
            <a:outerShdw blurRad="101600" dist="25400" dir="8100000" algn="bl" rotWithShape="0">
              <a:srgbClr val="000000">
                <a:alpha val="12000"/>
              </a:srgbClr>
            </a:outerShdw>
          </a:effectLst>
        </p:spPr>
      </p:sp>
      <p:sp>
        <p:nvSpPr>
          <p:cNvPr id="21" name="Text 19"/>
          <p:cNvSpPr/>
          <p:nvPr/>
        </p:nvSpPr>
        <p:spPr>
          <a:xfrm>
            <a:off x="4663440" y="1170432"/>
            <a:ext cx="1737360" cy="10058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Incineration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&amp; Burning</a:t>
            </a:r>
            <a:endParaRPr lang="en-US" sz="1200" dirty="0"/>
          </a:p>
        </p:txBody>
      </p:sp>
      <p:sp>
        <p:nvSpPr>
          <p:cNvPr id="22" name="Shape 20"/>
          <p:cNvSpPr/>
          <p:nvPr/>
        </p:nvSpPr>
        <p:spPr>
          <a:xfrm>
            <a:off x="6675120" y="1170432"/>
            <a:ext cx="1737360" cy="1005840"/>
          </a:xfrm>
          <a:prstGeom prst="ellipse">
            <a:avLst/>
          </a:prstGeom>
          <a:solidFill>
            <a:srgbClr val="0D47A1"/>
          </a:solidFill>
          <a:ln w="12700">
            <a:solidFill>
              <a:srgbClr val="0D47A1"/>
            </a:solidFill>
            <a:prstDash val="solid"/>
          </a:ln>
          <a:effectLst>
            <a:outerShdw blurRad="101600" dist="25400" dir="8100000" algn="bl" rotWithShape="0">
              <a:srgbClr val="000000">
                <a:alpha val="12000"/>
              </a:srgbClr>
            </a:outerShdw>
          </a:effectLst>
        </p:spPr>
      </p:sp>
      <p:sp>
        <p:nvSpPr>
          <p:cNvPr id="23" name="Text 21"/>
          <p:cNvSpPr/>
          <p:nvPr/>
        </p:nvSpPr>
        <p:spPr>
          <a:xfrm>
            <a:off x="6675120" y="1170432"/>
            <a:ext cx="1737360" cy="10058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Acid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Leaching</a:t>
            </a:r>
            <a:endParaRPr lang="en-US" sz="1200" dirty="0"/>
          </a:p>
        </p:txBody>
      </p:sp>
      <p:sp>
        <p:nvSpPr>
          <p:cNvPr id="24" name="Shape 22"/>
          <p:cNvSpPr/>
          <p:nvPr/>
        </p:nvSpPr>
        <p:spPr>
          <a:xfrm>
            <a:off x="4663440" y="2542032"/>
            <a:ext cx="1737360" cy="1005840"/>
          </a:xfrm>
          <a:prstGeom prst="ellipse">
            <a:avLst/>
          </a:prstGeom>
          <a:solidFill>
            <a:srgbClr val="4CAF50"/>
          </a:solidFill>
          <a:ln w="12700">
            <a:solidFill>
              <a:srgbClr val="4CAF50"/>
            </a:solidFill>
            <a:prstDash val="solid"/>
          </a:ln>
          <a:effectLst>
            <a:outerShdw blurRad="101600" dist="25400" dir="8100000" algn="bl" rotWithShape="0">
              <a:srgbClr val="000000">
                <a:alpha val="12000"/>
              </a:srgbClr>
            </a:outerShdw>
          </a:effectLst>
        </p:spPr>
      </p:sp>
      <p:sp>
        <p:nvSpPr>
          <p:cNvPr id="25" name="Text 23"/>
          <p:cNvSpPr/>
          <p:nvPr/>
        </p:nvSpPr>
        <p:spPr>
          <a:xfrm>
            <a:off x="4663440" y="2542032"/>
            <a:ext cx="1737360" cy="10058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Manual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Disassembly</a:t>
            </a:r>
            <a:endParaRPr lang="en-US" sz="1200" dirty="0"/>
          </a:p>
        </p:txBody>
      </p:sp>
      <p:sp>
        <p:nvSpPr>
          <p:cNvPr id="26" name="Shape 24"/>
          <p:cNvSpPr/>
          <p:nvPr/>
        </p:nvSpPr>
        <p:spPr>
          <a:xfrm>
            <a:off x="6675120" y="2542032"/>
            <a:ext cx="1737360" cy="1005840"/>
          </a:xfrm>
          <a:prstGeom prst="ellipse">
            <a:avLst/>
          </a:prstGeom>
          <a:solidFill>
            <a:srgbClr val="E65100"/>
          </a:solidFill>
          <a:ln w="12700">
            <a:solidFill>
              <a:srgbClr val="E65100"/>
            </a:solidFill>
            <a:prstDash val="solid"/>
          </a:ln>
          <a:effectLst>
            <a:outerShdw blurRad="101600" dist="25400" dir="8100000" algn="bl" rotWithShape="0">
              <a:srgbClr val="000000">
                <a:alpha val="12000"/>
              </a:srgbClr>
            </a:outerShdw>
          </a:effectLst>
        </p:spPr>
      </p:sp>
      <p:sp>
        <p:nvSpPr>
          <p:cNvPr id="27" name="Text 25"/>
          <p:cNvSpPr/>
          <p:nvPr/>
        </p:nvSpPr>
        <p:spPr>
          <a:xfrm>
            <a:off x="6675120" y="2542032"/>
            <a:ext cx="1737360" cy="10058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Improper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Dumping</a:t>
            </a:r>
            <a:endParaRPr lang="en-US" sz="1200" dirty="0"/>
          </a:p>
        </p:txBody>
      </p:sp>
      <p:sp>
        <p:nvSpPr>
          <p:cNvPr id="28" name="Shape 26"/>
          <p:cNvSpPr/>
          <p:nvPr/>
        </p:nvSpPr>
        <p:spPr>
          <a:xfrm>
            <a:off x="5577840" y="3657600"/>
            <a:ext cx="1645920" cy="54864"/>
          </a:xfrm>
          <a:prstGeom prst="rect">
            <a:avLst/>
          </a:prstGeom>
          <a:solidFill>
            <a:srgbClr val="4FC3F7"/>
          </a:solidFill>
          <a:ln w="12700">
            <a:solidFill>
              <a:srgbClr val="4FC3F7"/>
            </a:solidFill>
            <a:prstDash val="solid"/>
          </a:ln>
        </p:spPr>
      </p:sp>
      <p:sp>
        <p:nvSpPr>
          <p:cNvPr id="29" name="Shape 27"/>
          <p:cNvSpPr/>
          <p:nvPr/>
        </p:nvSpPr>
        <p:spPr>
          <a:xfrm>
            <a:off x="4663440" y="3749040"/>
            <a:ext cx="4023360" cy="914400"/>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30" name="Text 28"/>
          <p:cNvSpPr/>
          <p:nvPr/>
        </p:nvSpPr>
        <p:spPr>
          <a:xfrm>
            <a:off x="4663440" y="3749040"/>
            <a:ext cx="402336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Worker &amp; Community</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Health Impacts</a:t>
            </a:r>
            <a:endParaRPr lang="en-US" sz="1400" dirty="0"/>
          </a:p>
        </p:txBody>
      </p:sp>
      <p:sp>
        <p:nvSpPr>
          <p:cNvPr id="31" name="Shape 29"/>
          <p:cNvSpPr/>
          <p:nvPr/>
        </p:nvSpPr>
        <p:spPr>
          <a:xfrm>
            <a:off x="457200" y="4663440"/>
            <a:ext cx="3749040" cy="347472"/>
          </a:xfrm>
          <a:prstGeom prst="rect">
            <a:avLst/>
          </a:prstGeom>
          <a:solidFill>
            <a:srgbClr val="4FC3F7"/>
          </a:solidFill>
          <a:ln w="12700">
            <a:solidFill>
              <a:srgbClr val="4FC3F7"/>
            </a:solidFill>
            <a:prstDash val="solid"/>
          </a:ln>
        </p:spPr>
      </p:sp>
      <p:sp>
        <p:nvSpPr>
          <p:cNvPr id="32" name="Text 30"/>
          <p:cNvSpPr/>
          <p:nvPr/>
        </p:nvSpPr>
        <p:spPr>
          <a:xfrm>
            <a:off x="457200" y="4663440"/>
            <a:ext cx="3749040" cy="347472"/>
          </a:xfrm>
          <a:prstGeom prst="rect">
            <a:avLst/>
          </a:prstGeom>
          <a:noFill/>
          <a:ln/>
        </p:spPr>
        <p:txBody>
          <a:bodyPr wrap="square" rtlCol="0" anchor="ctr"/>
          <a:lstStyle/>
          <a:p>
            <a:pPr marL="0" indent="0" algn="ctr">
              <a:buNone/>
            </a:pPr>
            <a:r>
              <a:rPr lang="en-US" sz="1000" i="1" dirty="0">
                <a:solidFill>
                  <a:srgbClr val="1E2761"/>
                </a:solidFill>
                <a:latin typeface="Calibri" pitchFamily="34" charset="0"/>
                <a:ea typeface="Calibri" pitchFamily="34" charset="-122"/>
                <a:cs typeface="Calibri" pitchFamily="34" charset="-120"/>
              </a:rPr>
              <a:t>25,000 workers in Delhi alone dismantle 10,000–20,000 tonnes of e-waste annually with bare hands  (Palanivel &amp; Sulaiman, 2014)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0292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Analytical Framework: 12 Green Chemistry Principles</a:t>
            </a:r>
            <a:endParaRPr lang="en-US" sz="2600" dirty="0"/>
          </a:p>
        </p:txBody>
      </p:sp>
      <p:sp>
        <p:nvSpPr>
          <p:cNvPr id="3" name="Text 1"/>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Anastas &amp; Warner (1998) — evaluative lens for all three solution pillars in this review</a:t>
            </a:r>
            <a:endParaRPr lang="en-US" sz="1200" dirty="0"/>
          </a:p>
        </p:txBody>
      </p:sp>
      <p:sp>
        <p:nvSpPr>
          <p:cNvPr id="4" name="Shape 2"/>
          <p:cNvSpPr/>
          <p:nvPr/>
        </p:nvSpPr>
        <p:spPr>
          <a:xfrm>
            <a:off x="365760" y="1005840"/>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5" name="Text 3"/>
          <p:cNvSpPr/>
          <p:nvPr/>
        </p:nvSpPr>
        <p:spPr>
          <a:xfrm>
            <a:off x="365760" y="1078992"/>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P1</a:t>
            </a:r>
            <a:endParaRPr lang="en-US" sz="1600" dirty="0"/>
          </a:p>
        </p:txBody>
      </p:sp>
      <p:sp>
        <p:nvSpPr>
          <p:cNvPr id="6" name="Text 4"/>
          <p:cNvSpPr/>
          <p:nvPr/>
        </p:nvSpPr>
        <p:spPr>
          <a:xfrm>
            <a:off x="457200" y="1408176"/>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Waste Prevention</a:t>
            </a:r>
            <a:endParaRPr lang="en-US" sz="1200" dirty="0"/>
          </a:p>
        </p:txBody>
      </p:sp>
      <p:sp>
        <p:nvSpPr>
          <p:cNvPr id="7" name="Shape 5"/>
          <p:cNvSpPr/>
          <p:nvPr/>
        </p:nvSpPr>
        <p:spPr>
          <a:xfrm>
            <a:off x="2487168" y="1005840"/>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8" name="Text 6"/>
          <p:cNvSpPr/>
          <p:nvPr/>
        </p:nvSpPr>
        <p:spPr>
          <a:xfrm>
            <a:off x="2487168" y="1078992"/>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P2</a:t>
            </a:r>
            <a:endParaRPr lang="en-US" sz="1600" dirty="0"/>
          </a:p>
        </p:txBody>
      </p:sp>
      <p:sp>
        <p:nvSpPr>
          <p:cNvPr id="9" name="Text 7"/>
          <p:cNvSpPr/>
          <p:nvPr/>
        </p:nvSpPr>
        <p:spPr>
          <a:xfrm>
            <a:off x="2578608" y="1408176"/>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Atom Economy</a:t>
            </a:r>
            <a:endParaRPr lang="en-US" sz="1200" dirty="0"/>
          </a:p>
        </p:txBody>
      </p:sp>
      <p:sp>
        <p:nvSpPr>
          <p:cNvPr id="10" name="Shape 8"/>
          <p:cNvSpPr/>
          <p:nvPr/>
        </p:nvSpPr>
        <p:spPr>
          <a:xfrm>
            <a:off x="4608576" y="1005840"/>
            <a:ext cx="1993392" cy="1078992"/>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11" name="Text 9"/>
          <p:cNvSpPr/>
          <p:nvPr/>
        </p:nvSpPr>
        <p:spPr>
          <a:xfrm>
            <a:off x="4608576" y="1078992"/>
            <a:ext cx="1993392" cy="292608"/>
          </a:xfrm>
          <a:prstGeom prst="rect">
            <a:avLst/>
          </a:prstGeom>
          <a:noFill/>
          <a:ln/>
        </p:spPr>
        <p:txBody>
          <a:bodyPr wrap="square" rtlCol="0" anchor="ctr"/>
          <a:lstStyle/>
          <a:p>
            <a:pPr marL="0" indent="0" algn="ctr">
              <a:buNone/>
            </a:pPr>
            <a:r>
              <a:rPr lang="en-US" sz="1600" b="1" dirty="0">
                <a:solidFill>
                  <a:srgbClr val="4FC3F7"/>
                </a:solidFill>
                <a:latin typeface="Calibri" pitchFamily="34" charset="0"/>
                <a:ea typeface="Calibri" pitchFamily="34" charset="-122"/>
                <a:cs typeface="Calibri" pitchFamily="34" charset="-120"/>
              </a:rPr>
              <a:t>P3</a:t>
            </a:r>
            <a:endParaRPr lang="en-US" sz="1600" dirty="0"/>
          </a:p>
        </p:txBody>
      </p:sp>
      <p:sp>
        <p:nvSpPr>
          <p:cNvPr id="12" name="Text 10"/>
          <p:cNvSpPr/>
          <p:nvPr/>
        </p:nvSpPr>
        <p:spPr>
          <a:xfrm>
            <a:off x="4700016" y="1408176"/>
            <a:ext cx="1810512" cy="58521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Less Hazardous Synthesis</a:t>
            </a:r>
            <a:endParaRPr lang="en-US" sz="1200" dirty="0"/>
          </a:p>
        </p:txBody>
      </p:sp>
      <p:sp>
        <p:nvSpPr>
          <p:cNvPr id="13" name="Shape 11"/>
          <p:cNvSpPr/>
          <p:nvPr/>
        </p:nvSpPr>
        <p:spPr>
          <a:xfrm>
            <a:off x="6729984" y="1005840"/>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14" name="Text 12"/>
          <p:cNvSpPr/>
          <p:nvPr/>
        </p:nvSpPr>
        <p:spPr>
          <a:xfrm>
            <a:off x="6729984" y="1078992"/>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P4</a:t>
            </a:r>
            <a:endParaRPr lang="en-US" sz="1600" dirty="0"/>
          </a:p>
        </p:txBody>
      </p:sp>
      <p:sp>
        <p:nvSpPr>
          <p:cNvPr id="15" name="Text 13"/>
          <p:cNvSpPr/>
          <p:nvPr/>
        </p:nvSpPr>
        <p:spPr>
          <a:xfrm>
            <a:off x="6821424" y="1408176"/>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Safer Products</a:t>
            </a:r>
            <a:endParaRPr lang="en-US" sz="1200" dirty="0"/>
          </a:p>
        </p:txBody>
      </p:sp>
      <p:sp>
        <p:nvSpPr>
          <p:cNvPr id="16" name="Shape 14"/>
          <p:cNvSpPr/>
          <p:nvPr/>
        </p:nvSpPr>
        <p:spPr>
          <a:xfrm>
            <a:off x="365760" y="2267712"/>
            <a:ext cx="1993392" cy="1078992"/>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17" name="Text 15"/>
          <p:cNvSpPr/>
          <p:nvPr/>
        </p:nvSpPr>
        <p:spPr>
          <a:xfrm>
            <a:off x="365760" y="2340864"/>
            <a:ext cx="1993392" cy="292608"/>
          </a:xfrm>
          <a:prstGeom prst="rect">
            <a:avLst/>
          </a:prstGeom>
          <a:noFill/>
          <a:ln/>
        </p:spPr>
        <p:txBody>
          <a:bodyPr wrap="square" rtlCol="0" anchor="ctr"/>
          <a:lstStyle/>
          <a:p>
            <a:pPr marL="0" indent="0" algn="ctr">
              <a:buNone/>
            </a:pPr>
            <a:r>
              <a:rPr lang="en-US" sz="1600" b="1" dirty="0">
                <a:solidFill>
                  <a:srgbClr val="4FC3F7"/>
                </a:solidFill>
                <a:latin typeface="Calibri" pitchFamily="34" charset="0"/>
                <a:ea typeface="Calibri" pitchFamily="34" charset="-122"/>
                <a:cs typeface="Calibri" pitchFamily="34" charset="-120"/>
              </a:rPr>
              <a:t>P5</a:t>
            </a:r>
            <a:endParaRPr lang="en-US" sz="1600" dirty="0"/>
          </a:p>
        </p:txBody>
      </p:sp>
      <p:sp>
        <p:nvSpPr>
          <p:cNvPr id="18" name="Text 16"/>
          <p:cNvSpPr/>
          <p:nvPr/>
        </p:nvSpPr>
        <p:spPr>
          <a:xfrm>
            <a:off x="457200" y="2670048"/>
            <a:ext cx="1810512" cy="58521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Safer Solvents</a:t>
            </a:r>
            <a:endParaRPr lang="en-US" sz="1200" dirty="0"/>
          </a:p>
        </p:txBody>
      </p:sp>
      <p:sp>
        <p:nvSpPr>
          <p:cNvPr id="19" name="Shape 17"/>
          <p:cNvSpPr/>
          <p:nvPr/>
        </p:nvSpPr>
        <p:spPr>
          <a:xfrm>
            <a:off x="2487168" y="2267712"/>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20" name="Text 18"/>
          <p:cNvSpPr/>
          <p:nvPr/>
        </p:nvSpPr>
        <p:spPr>
          <a:xfrm>
            <a:off x="2487168" y="2340864"/>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P6</a:t>
            </a:r>
            <a:endParaRPr lang="en-US" sz="1600" dirty="0"/>
          </a:p>
        </p:txBody>
      </p:sp>
      <p:sp>
        <p:nvSpPr>
          <p:cNvPr id="21" name="Text 19"/>
          <p:cNvSpPr/>
          <p:nvPr/>
        </p:nvSpPr>
        <p:spPr>
          <a:xfrm>
            <a:off x="2578608" y="2670048"/>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Energy Efficiency</a:t>
            </a:r>
            <a:endParaRPr lang="en-US" sz="1200" dirty="0"/>
          </a:p>
        </p:txBody>
      </p:sp>
      <p:sp>
        <p:nvSpPr>
          <p:cNvPr id="22" name="Shape 20"/>
          <p:cNvSpPr/>
          <p:nvPr/>
        </p:nvSpPr>
        <p:spPr>
          <a:xfrm>
            <a:off x="4608576" y="2267712"/>
            <a:ext cx="1993392" cy="1078992"/>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23" name="Text 21"/>
          <p:cNvSpPr/>
          <p:nvPr/>
        </p:nvSpPr>
        <p:spPr>
          <a:xfrm>
            <a:off x="4608576" y="2340864"/>
            <a:ext cx="1993392" cy="292608"/>
          </a:xfrm>
          <a:prstGeom prst="rect">
            <a:avLst/>
          </a:prstGeom>
          <a:noFill/>
          <a:ln/>
        </p:spPr>
        <p:txBody>
          <a:bodyPr wrap="square" rtlCol="0" anchor="ctr"/>
          <a:lstStyle/>
          <a:p>
            <a:pPr marL="0" indent="0" algn="ctr">
              <a:buNone/>
            </a:pPr>
            <a:r>
              <a:rPr lang="en-US" sz="1600" b="1" dirty="0">
                <a:solidFill>
                  <a:srgbClr val="4FC3F7"/>
                </a:solidFill>
                <a:latin typeface="Calibri" pitchFamily="34" charset="0"/>
                <a:ea typeface="Calibri" pitchFamily="34" charset="-122"/>
                <a:cs typeface="Calibri" pitchFamily="34" charset="-120"/>
              </a:rPr>
              <a:t>P7</a:t>
            </a:r>
            <a:endParaRPr lang="en-US" sz="1600" dirty="0"/>
          </a:p>
        </p:txBody>
      </p:sp>
      <p:sp>
        <p:nvSpPr>
          <p:cNvPr id="24" name="Text 22"/>
          <p:cNvSpPr/>
          <p:nvPr/>
        </p:nvSpPr>
        <p:spPr>
          <a:xfrm>
            <a:off x="4700016" y="2670048"/>
            <a:ext cx="1810512" cy="58521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Renewable Feedstocks</a:t>
            </a:r>
            <a:endParaRPr lang="en-US" sz="1200" dirty="0"/>
          </a:p>
        </p:txBody>
      </p:sp>
      <p:sp>
        <p:nvSpPr>
          <p:cNvPr id="25" name="Shape 23"/>
          <p:cNvSpPr/>
          <p:nvPr/>
        </p:nvSpPr>
        <p:spPr>
          <a:xfrm>
            <a:off x="6729984" y="2267712"/>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26" name="Text 24"/>
          <p:cNvSpPr/>
          <p:nvPr/>
        </p:nvSpPr>
        <p:spPr>
          <a:xfrm>
            <a:off x="6729984" y="2340864"/>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P8</a:t>
            </a:r>
            <a:endParaRPr lang="en-US" sz="1600" dirty="0"/>
          </a:p>
        </p:txBody>
      </p:sp>
      <p:sp>
        <p:nvSpPr>
          <p:cNvPr id="27" name="Text 25"/>
          <p:cNvSpPr/>
          <p:nvPr/>
        </p:nvSpPr>
        <p:spPr>
          <a:xfrm>
            <a:off x="6821424" y="2670048"/>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Avoid Derivatives</a:t>
            </a:r>
            <a:endParaRPr lang="en-US" sz="1200" dirty="0"/>
          </a:p>
        </p:txBody>
      </p:sp>
      <p:sp>
        <p:nvSpPr>
          <p:cNvPr id="28" name="Shape 26"/>
          <p:cNvSpPr/>
          <p:nvPr/>
        </p:nvSpPr>
        <p:spPr>
          <a:xfrm>
            <a:off x="365760" y="3529584"/>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29" name="Text 27"/>
          <p:cNvSpPr/>
          <p:nvPr/>
        </p:nvSpPr>
        <p:spPr>
          <a:xfrm>
            <a:off x="365760" y="3602736"/>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P9</a:t>
            </a:r>
            <a:endParaRPr lang="en-US" sz="1600" dirty="0"/>
          </a:p>
        </p:txBody>
      </p:sp>
      <p:sp>
        <p:nvSpPr>
          <p:cNvPr id="30" name="Text 28"/>
          <p:cNvSpPr/>
          <p:nvPr/>
        </p:nvSpPr>
        <p:spPr>
          <a:xfrm>
            <a:off x="457200" y="3931920"/>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Catalysis</a:t>
            </a:r>
            <a:endParaRPr lang="en-US" sz="1200" dirty="0"/>
          </a:p>
        </p:txBody>
      </p:sp>
      <p:sp>
        <p:nvSpPr>
          <p:cNvPr id="31" name="Shape 29"/>
          <p:cNvSpPr/>
          <p:nvPr/>
        </p:nvSpPr>
        <p:spPr>
          <a:xfrm>
            <a:off x="2487168" y="3529584"/>
            <a:ext cx="1993392" cy="1078992"/>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32" name="Text 30"/>
          <p:cNvSpPr/>
          <p:nvPr/>
        </p:nvSpPr>
        <p:spPr>
          <a:xfrm>
            <a:off x="2487168" y="3602736"/>
            <a:ext cx="1993392" cy="292608"/>
          </a:xfrm>
          <a:prstGeom prst="rect">
            <a:avLst/>
          </a:prstGeom>
          <a:noFill/>
          <a:ln/>
        </p:spPr>
        <p:txBody>
          <a:bodyPr wrap="square" rtlCol="0" anchor="ctr"/>
          <a:lstStyle/>
          <a:p>
            <a:pPr marL="0" indent="0" algn="ctr">
              <a:buNone/>
            </a:pPr>
            <a:r>
              <a:rPr lang="en-US" sz="1600" b="1" dirty="0">
                <a:solidFill>
                  <a:srgbClr val="4FC3F7"/>
                </a:solidFill>
                <a:latin typeface="Calibri" pitchFamily="34" charset="0"/>
                <a:ea typeface="Calibri" pitchFamily="34" charset="-122"/>
                <a:cs typeface="Calibri" pitchFamily="34" charset="-120"/>
              </a:rPr>
              <a:t>P10</a:t>
            </a:r>
            <a:endParaRPr lang="en-US" sz="1600" dirty="0"/>
          </a:p>
        </p:txBody>
      </p:sp>
      <p:sp>
        <p:nvSpPr>
          <p:cNvPr id="33" name="Text 31"/>
          <p:cNvSpPr/>
          <p:nvPr/>
        </p:nvSpPr>
        <p:spPr>
          <a:xfrm>
            <a:off x="2578608" y="3931920"/>
            <a:ext cx="1810512" cy="58521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Design for Degradation</a:t>
            </a:r>
            <a:endParaRPr lang="en-US" sz="1200" dirty="0"/>
          </a:p>
        </p:txBody>
      </p:sp>
      <p:sp>
        <p:nvSpPr>
          <p:cNvPr id="34" name="Shape 32"/>
          <p:cNvSpPr/>
          <p:nvPr/>
        </p:nvSpPr>
        <p:spPr>
          <a:xfrm>
            <a:off x="4608576" y="3529584"/>
            <a:ext cx="1993392" cy="1078992"/>
          </a:xfrm>
          <a:prstGeom prst="rect">
            <a:avLst/>
          </a:prstGeom>
          <a:solidFill>
            <a:srgbClr val="FFFFFF"/>
          </a:solidFill>
          <a:ln w="12700">
            <a:solidFill>
              <a:srgbClr val="D1D5DB"/>
            </a:solidFill>
            <a:prstDash val="solid"/>
          </a:ln>
          <a:effectLst>
            <a:outerShdw blurRad="101600" dist="25400" dir="8100000" algn="bl" rotWithShape="0">
              <a:srgbClr val="000000">
                <a:alpha val="12000"/>
              </a:srgbClr>
            </a:outerShdw>
          </a:effectLst>
        </p:spPr>
      </p:sp>
      <p:sp>
        <p:nvSpPr>
          <p:cNvPr id="35" name="Text 33"/>
          <p:cNvSpPr/>
          <p:nvPr/>
        </p:nvSpPr>
        <p:spPr>
          <a:xfrm>
            <a:off x="4608576" y="3602736"/>
            <a:ext cx="1993392"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P11</a:t>
            </a:r>
            <a:endParaRPr lang="en-US" sz="1600" dirty="0"/>
          </a:p>
        </p:txBody>
      </p:sp>
      <p:sp>
        <p:nvSpPr>
          <p:cNvPr id="36" name="Text 34"/>
          <p:cNvSpPr/>
          <p:nvPr/>
        </p:nvSpPr>
        <p:spPr>
          <a:xfrm>
            <a:off x="4700016" y="3931920"/>
            <a:ext cx="1810512" cy="585216"/>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Real-time Monitoring</a:t>
            </a:r>
            <a:endParaRPr lang="en-US" sz="1200" dirty="0"/>
          </a:p>
        </p:txBody>
      </p:sp>
      <p:sp>
        <p:nvSpPr>
          <p:cNvPr id="37" name="Shape 35"/>
          <p:cNvSpPr/>
          <p:nvPr/>
        </p:nvSpPr>
        <p:spPr>
          <a:xfrm>
            <a:off x="6729984" y="3529584"/>
            <a:ext cx="1993392" cy="1078992"/>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38" name="Text 36"/>
          <p:cNvSpPr/>
          <p:nvPr/>
        </p:nvSpPr>
        <p:spPr>
          <a:xfrm>
            <a:off x="6729984" y="3602736"/>
            <a:ext cx="1993392" cy="292608"/>
          </a:xfrm>
          <a:prstGeom prst="rect">
            <a:avLst/>
          </a:prstGeom>
          <a:noFill/>
          <a:ln/>
        </p:spPr>
        <p:txBody>
          <a:bodyPr wrap="square" rtlCol="0" anchor="ctr"/>
          <a:lstStyle/>
          <a:p>
            <a:pPr marL="0" indent="0" algn="ctr">
              <a:buNone/>
            </a:pPr>
            <a:r>
              <a:rPr lang="en-US" sz="1600" b="1" dirty="0">
                <a:solidFill>
                  <a:srgbClr val="4FC3F7"/>
                </a:solidFill>
                <a:latin typeface="Calibri" pitchFamily="34" charset="0"/>
                <a:ea typeface="Calibri" pitchFamily="34" charset="-122"/>
                <a:cs typeface="Calibri" pitchFamily="34" charset="-120"/>
              </a:rPr>
              <a:t>P12</a:t>
            </a:r>
            <a:endParaRPr lang="en-US" sz="1600" dirty="0"/>
          </a:p>
        </p:txBody>
      </p:sp>
      <p:sp>
        <p:nvSpPr>
          <p:cNvPr id="39" name="Text 37"/>
          <p:cNvSpPr/>
          <p:nvPr/>
        </p:nvSpPr>
        <p:spPr>
          <a:xfrm>
            <a:off x="6821424" y="3931920"/>
            <a:ext cx="1810512" cy="58521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Inherently Safer Chemistry</a:t>
            </a:r>
            <a:endParaRPr lang="en-US" sz="1200" dirty="0"/>
          </a:p>
        </p:txBody>
      </p:sp>
      <p:sp>
        <p:nvSpPr>
          <p:cNvPr id="40" name="Shape 38"/>
          <p:cNvSpPr/>
          <p:nvPr/>
        </p:nvSpPr>
        <p:spPr>
          <a:xfrm>
            <a:off x="365760" y="4800600"/>
            <a:ext cx="201168" cy="201168"/>
          </a:xfrm>
          <a:prstGeom prst="rect">
            <a:avLst/>
          </a:prstGeom>
          <a:solidFill>
            <a:srgbClr val="1E2761"/>
          </a:solidFill>
          <a:ln w="12700">
            <a:solidFill>
              <a:srgbClr val="1E2761"/>
            </a:solidFill>
            <a:prstDash val="solid"/>
          </a:ln>
        </p:spPr>
      </p:sp>
      <p:sp>
        <p:nvSpPr>
          <p:cNvPr id="41" name="Text 39"/>
          <p:cNvSpPr/>
          <p:nvPr/>
        </p:nvSpPr>
        <p:spPr>
          <a:xfrm>
            <a:off x="621792" y="4809744"/>
            <a:ext cx="3657600" cy="1828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Principles directly applied in this review</a:t>
            </a:r>
            <a:endParaRPr lang="en-US" sz="1000" dirty="0"/>
          </a:p>
        </p:txBody>
      </p:sp>
      <p:sp>
        <p:nvSpPr>
          <p:cNvPr id="42" name="Shape 40"/>
          <p:cNvSpPr/>
          <p:nvPr/>
        </p:nvSpPr>
        <p:spPr>
          <a:xfrm>
            <a:off x="4389120" y="4800600"/>
            <a:ext cx="201168" cy="201168"/>
          </a:xfrm>
          <a:prstGeom prst="rect">
            <a:avLst/>
          </a:prstGeom>
          <a:solidFill>
            <a:srgbClr val="FFFFFF"/>
          </a:solidFill>
          <a:ln w="12700">
            <a:solidFill>
              <a:srgbClr val="D1D5DB"/>
            </a:solidFill>
            <a:prstDash val="solid"/>
          </a:ln>
        </p:spPr>
      </p:sp>
      <p:sp>
        <p:nvSpPr>
          <p:cNvPr id="43" name="Text 41"/>
          <p:cNvSpPr/>
          <p:nvPr/>
        </p:nvSpPr>
        <p:spPr>
          <a:xfrm>
            <a:off x="4645152" y="4809744"/>
            <a:ext cx="3657600" cy="1828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Not the primary focus of this review</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Deep Dive: Deep Eutectic Solvents (DES)</a:t>
            </a:r>
            <a:endParaRPr lang="en-US" sz="2800" dirty="0"/>
          </a:p>
        </p:txBody>
      </p:sp>
      <p:sp>
        <p:nvSpPr>
          <p:cNvPr id="3" name="Text 1"/>
          <p:cNvSpPr/>
          <p:nvPr/>
        </p:nvSpPr>
        <p:spPr>
          <a:xfrm>
            <a:off x="457200" y="749808"/>
            <a:ext cx="502920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How DES Systems Work</a:t>
            </a:r>
            <a:endParaRPr lang="en-US" sz="1400" dirty="0"/>
          </a:p>
        </p:txBody>
      </p:sp>
      <p:sp>
        <p:nvSpPr>
          <p:cNvPr id="4" name="Shape 2"/>
          <p:cNvSpPr/>
          <p:nvPr/>
        </p:nvSpPr>
        <p:spPr>
          <a:xfrm>
            <a:off x="365760" y="1078992"/>
            <a:ext cx="1572768" cy="859536"/>
          </a:xfrm>
          <a:prstGeom prst="rect">
            <a:avLst/>
          </a:prstGeom>
          <a:solidFill>
            <a:srgbClr val="1E2761"/>
          </a:solidFill>
          <a:ln w="12700">
            <a:solidFill>
              <a:srgbClr val="1E2761"/>
            </a:solidFill>
            <a:prstDash val="solid"/>
          </a:ln>
          <a:effectLst>
            <a:outerShdw blurRad="101600" dist="25400" dir="8100000" algn="bl" rotWithShape="0">
              <a:srgbClr val="000000">
                <a:alpha val="12000"/>
              </a:srgbClr>
            </a:outerShdw>
          </a:effectLst>
        </p:spPr>
      </p:sp>
      <p:sp>
        <p:nvSpPr>
          <p:cNvPr id="5" name="Text 3"/>
          <p:cNvSpPr/>
          <p:nvPr/>
        </p:nvSpPr>
        <p:spPr>
          <a:xfrm>
            <a:off x="365760" y="1097280"/>
            <a:ext cx="1572768"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Hydrogen Bond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Acceptor (HBA)</a:t>
            </a:r>
            <a:endParaRPr lang="en-US" sz="1200" dirty="0"/>
          </a:p>
        </p:txBody>
      </p:sp>
      <p:sp>
        <p:nvSpPr>
          <p:cNvPr id="6" name="Text 4"/>
          <p:cNvSpPr/>
          <p:nvPr/>
        </p:nvSpPr>
        <p:spPr>
          <a:xfrm>
            <a:off x="365760" y="1581912"/>
            <a:ext cx="1572768" cy="329184"/>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e.g. Choline Chloride</a:t>
            </a:r>
            <a:endParaRPr lang="en-US" sz="1000" dirty="0"/>
          </a:p>
        </p:txBody>
      </p:sp>
      <p:sp>
        <p:nvSpPr>
          <p:cNvPr id="7" name="Text 5"/>
          <p:cNvSpPr/>
          <p:nvPr/>
        </p:nvSpPr>
        <p:spPr>
          <a:xfrm>
            <a:off x="2423160" y="1143000"/>
            <a:ext cx="548640" cy="731520"/>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a:t>
            </a:r>
            <a:endParaRPr lang="en-US" sz="2600" dirty="0"/>
          </a:p>
        </p:txBody>
      </p:sp>
      <p:sp>
        <p:nvSpPr>
          <p:cNvPr id="8" name="Shape 6"/>
          <p:cNvSpPr/>
          <p:nvPr/>
        </p:nvSpPr>
        <p:spPr>
          <a:xfrm>
            <a:off x="3749040" y="1078992"/>
            <a:ext cx="1572768" cy="859536"/>
          </a:xfrm>
          <a:prstGeom prst="rect">
            <a:avLst/>
          </a:prstGeom>
          <a:solidFill>
            <a:srgbClr val="0D47A1"/>
          </a:solidFill>
          <a:ln w="12700">
            <a:solidFill>
              <a:srgbClr val="0D47A1"/>
            </a:solidFill>
            <a:prstDash val="solid"/>
          </a:ln>
          <a:effectLst>
            <a:outerShdw blurRad="101600" dist="25400" dir="8100000" algn="bl" rotWithShape="0">
              <a:srgbClr val="000000">
                <a:alpha val="12000"/>
              </a:srgbClr>
            </a:outerShdw>
          </a:effectLst>
        </p:spPr>
      </p:sp>
      <p:sp>
        <p:nvSpPr>
          <p:cNvPr id="9" name="Text 7"/>
          <p:cNvSpPr/>
          <p:nvPr/>
        </p:nvSpPr>
        <p:spPr>
          <a:xfrm>
            <a:off x="3749040" y="1097280"/>
            <a:ext cx="1572768"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Hydrogen Bond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Donor (HBD)</a:t>
            </a:r>
            <a:endParaRPr lang="en-US" sz="1200" dirty="0"/>
          </a:p>
        </p:txBody>
      </p:sp>
      <p:sp>
        <p:nvSpPr>
          <p:cNvPr id="10" name="Text 8"/>
          <p:cNvSpPr/>
          <p:nvPr/>
        </p:nvSpPr>
        <p:spPr>
          <a:xfrm>
            <a:off x="3749040" y="1581912"/>
            <a:ext cx="1572768" cy="329184"/>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e.g. Urea, Oxalic Acid</a:t>
            </a:r>
            <a:endParaRPr lang="en-US" sz="1000" dirty="0"/>
          </a:p>
        </p:txBody>
      </p:sp>
      <p:sp>
        <p:nvSpPr>
          <p:cNvPr id="11" name="Text 9"/>
          <p:cNvSpPr/>
          <p:nvPr/>
        </p:nvSpPr>
        <p:spPr>
          <a:xfrm>
            <a:off x="5806440" y="1143000"/>
            <a:ext cx="548640" cy="731520"/>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a:t>
            </a:r>
            <a:endParaRPr lang="en-US" sz="2600" dirty="0"/>
          </a:p>
        </p:txBody>
      </p:sp>
      <p:sp>
        <p:nvSpPr>
          <p:cNvPr id="12" name="Shape 10"/>
          <p:cNvSpPr/>
          <p:nvPr/>
        </p:nvSpPr>
        <p:spPr>
          <a:xfrm>
            <a:off x="7132320" y="1078992"/>
            <a:ext cx="1572768" cy="859536"/>
          </a:xfrm>
          <a:prstGeom prst="rect">
            <a:avLst/>
          </a:prstGeom>
          <a:solidFill>
            <a:srgbClr val="028090"/>
          </a:solidFill>
          <a:ln w="12700">
            <a:solidFill>
              <a:srgbClr val="028090"/>
            </a:solidFill>
            <a:prstDash val="solid"/>
          </a:ln>
          <a:effectLst>
            <a:outerShdw blurRad="101600" dist="25400" dir="8100000" algn="bl" rotWithShape="0">
              <a:srgbClr val="000000">
                <a:alpha val="12000"/>
              </a:srgbClr>
            </a:outerShdw>
          </a:effectLst>
        </p:spPr>
      </p:sp>
      <p:sp>
        <p:nvSpPr>
          <p:cNvPr id="13" name="Text 11"/>
          <p:cNvSpPr/>
          <p:nvPr/>
        </p:nvSpPr>
        <p:spPr>
          <a:xfrm>
            <a:off x="7132320" y="1097280"/>
            <a:ext cx="1572768"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Deep Eutectic</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Solvent (DES)</a:t>
            </a:r>
            <a:endParaRPr lang="en-US" sz="1200" dirty="0"/>
          </a:p>
        </p:txBody>
      </p:sp>
      <p:sp>
        <p:nvSpPr>
          <p:cNvPr id="14" name="Text 12"/>
          <p:cNvSpPr/>
          <p:nvPr/>
        </p:nvSpPr>
        <p:spPr>
          <a:xfrm>
            <a:off x="7132320" y="1581912"/>
            <a:ext cx="1572768" cy="329184"/>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Low melting point, stable liquid</a:t>
            </a:r>
            <a:endParaRPr lang="en-US" sz="1000" dirty="0"/>
          </a:p>
        </p:txBody>
      </p:sp>
      <p:sp>
        <p:nvSpPr>
          <p:cNvPr id="15" name="Text 13"/>
          <p:cNvSpPr/>
          <p:nvPr/>
        </p:nvSpPr>
        <p:spPr>
          <a:xfrm>
            <a:off x="457200" y="2121408"/>
            <a:ext cx="5029200" cy="27432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Properties of DES vs Conventional Solvents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450592"/>
          <a:ext cx="5029200" cy="2468880"/>
        </p:xfrm>
        <a:graphic>
          <a:graphicData uri="http://schemas.openxmlformats.org/drawingml/2006/table">
            <a:tbl>
              <a:tblPr/>
              <a:tblGrid>
                <a:gridCol w="17373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11480">
                <a:tc>
                  <a:txBody>
                    <a:bodyPr/>
                    <a:lstStyle/>
                    <a:p>
                      <a:pPr marL="0" indent="0">
                        <a:buNone/>
                      </a:pPr>
                      <a:r>
                        <a:rPr lang="en-US" sz="1100" b="1" dirty="0">
                          <a:solidFill>
                            <a:srgbClr val="FFFFFF"/>
                          </a:solidFill>
                        </a:rPr>
                        <a:t>Property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DES</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Cyanide / Aqua Regia</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11480">
                <a:tc>
                  <a:txBody>
                    <a:bodyPr/>
                    <a:lstStyle/>
                    <a:p>
                      <a:pPr marL="0" indent="0">
                        <a:buNone/>
                      </a:pPr>
                      <a:r>
                        <a:rPr lang="en-US" sz="1100" dirty="0">
                          <a:solidFill>
                            <a:srgbClr val="000000"/>
                          </a:solidFill>
                        </a:rPr>
                        <a:t>Toxicity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Low — food-grade precursors</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B71C1C"/>
                          </a:solidFill>
                        </a:rPr>
                        <a:t>Extremely high</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100" dirty="0">
                          <a:solidFill>
                            <a:srgbClr val="000000"/>
                          </a:solidFill>
                        </a:rPr>
                        <a:t>Biodegradability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b="1" dirty="0">
                          <a:solidFill>
                            <a:srgbClr val="1B7A34"/>
                          </a:solidFill>
                        </a:rPr>
                        <a:t>Yes — fully biodegradable</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dirty="0">
                          <a:solidFill>
                            <a:srgbClr val="B71C1C"/>
                          </a:solidFill>
                        </a:rPr>
                        <a:t>No — persistent pollutant</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2"/>
                  </a:ext>
                </a:extLst>
              </a:tr>
              <a:tr h="411480">
                <a:tc>
                  <a:txBody>
                    <a:bodyPr/>
                    <a:lstStyle/>
                    <a:p>
                      <a:pPr marL="0" indent="0">
                        <a:buNone/>
                      </a:pPr>
                      <a:r>
                        <a:rPr lang="en-US" sz="1100" dirty="0">
                          <a:solidFill>
                            <a:srgbClr val="000000"/>
                          </a:solidFill>
                        </a:rPr>
                        <a:t>Operating temperature</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Ambient (25–80°C)</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High (100–200°C for pyro)</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100" dirty="0">
                          <a:solidFill>
                            <a:srgbClr val="000000"/>
                          </a:solidFill>
                        </a:rPr>
                        <a:t>Au recovery rate</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b="1" dirty="0">
                          <a:solidFill>
                            <a:srgbClr val="1B7A34"/>
                          </a:solidFill>
                        </a:rPr>
                        <a:t>80–95%</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tc>
                  <a:txBody>
                    <a:bodyPr/>
                    <a:lstStyle/>
                    <a:p>
                      <a:pPr marL="0" indent="0">
                        <a:buNone/>
                      </a:pPr>
                      <a:r>
                        <a:rPr lang="en-US" sz="1100" dirty="0">
                          <a:solidFill>
                            <a:srgbClr val="000000"/>
                          </a:solidFill>
                        </a:rPr>
                        <a:t>90–98% (but hazardous)</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EF2FF"/>
                    </a:solidFill>
                  </a:tcPr>
                </a:tc>
                <a:extLst>
                  <a:ext uri="{0D108BD9-81ED-4DB2-BD59-A6C34878D82A}">
                    <a16:rowId xmlns:a16="http://schemas.microsoft.com/office/drawing/2014/main" val="10004"/>
                  </a:ext>
                </a:extLst>
              </a:tr>
              <a:tr h="411480">
                <a:tc>
                  <a:txBody>
                    <a:bodyPr/>
                    <a:lstStyle/>
                    <a:p>
                      <a:pPr marL="0" indent="0">
                        <a:buNone/>
                      </a:pPr>
                      <a:r>
                        <a:rPr lang="en-US" sz="1100" dirty="0">
                          <a:solidFill>
                            <a:srgbClr val="000000"/>
                          </a:solidFill>
                        </a:rPr>
                        <a:t>GWP vs pyrometallurgy</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b="1" dirty="0">
                          <a:solidFill>
                            <a:srgbClr val="1B7A34"/>
                          </a:solidFill>
                        </a:rPr>
                        <a:t>40–60% lower</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Baseline (high)</a:t>
                      </a:r>
                      <a:endParaRPr lang="en-US" sz="1100" dirty="0"/>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7" name="Text 14"/>
          <p:cNvSpPr/>
          <p:nvPr/>
        </p:nvSpPr>
        <p:spPr>
          <a:xfrm>
            <a:off x="5760720" y="749808"/>
            <a:ext cx="2926080" cy="27432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Landmark Studies</a:t>
            </a:r>
            <a:endParaRPr lang="en-US" sz="1400" dirty="0"/>
          </a:p>
        </p:txBody>
      </p:sp>
      <p:sp>
        <p:nvSpPr>
          <p:cNvPr id="18" name="Shape 15"/>
          <p:cNvSpPr/>
          <p:nvPr/>
        </p:nvSpPr>
        <p:spPr>
          <a:xfrm>
            <a:off x="5760720" y="1005840"/>
            <a:ext cx="64008" cy="896112"/>
          </a:xfrm>
          <a:prstGeom prst="rect">
            <a:avLst/>
          </a:prstGeom>
          <a:solidFill>
            <a:srgbClr val="4FC3F7"/>
          </a:solidFill>
          <a:ln w="12700">
            <a:solidFill>
              <a:srgbClr val="4FC3F7"/>
            </a:solidFill>
            <a:prstDash val="solid"/>
          </a:ln>
        </p:spPr>
      </p:sp>
      <p:sp>
        <p:nvSpPr>
          <p:cNvPr id="19" name="Shape 16"/>
          <p:cNvSpPr/>
          <p:nvPr/>
        </p:nvSpPr>
        <p:spPr>
          <a:xfrm>
            <a:off x="5824728" y="1005840"/>
            <a:ext cx="2862072" cy="896112"/>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0" name="Text 17"/>
          <p:cNvSpPr/>
          <p:nvPr/>
        </p:nvSpPr>
        <p:spPr>
          <a:xfrm>
            <a:off x="5916168" y="1042416"/>
            <a:ext cx="2697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Smith et al. (2014)</a:t>
            </a:r>
            <a:endParaRPr lang="en-US" sz="1100" dirty="0"/>
          </a:p>
        </p:txBody>
      </p:sp>
      <p:sp>
        <p:nvSpPr>
          <p:cNvPr id="21" name="Text 18"/>
          <p:cNvSpPr/>
          <p:nvPr/>
        </p:nvSpPr>
        <p:spPr>
          <a:xfrm>
            <a:off x="5916168" y="1298448"/>
            <a:ext cx="2697480"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Foundational DES chemistry review — 5,400+ citations. Established biodegradable, food-grade synthesis route.</a:t>
            </a:r>
            <a:endParaRPr lang="en-US" sz="1000" dirty="0"/>
          </a:p>
        </p:txBody>
      </p:sp>
      <p:sp>
        <p:nvSpPr>
          <p:cNvPr id="22" name="Shape 19"/>
          <p:cNvSpPr/>
          <p:nvPr/>
        </p:nvSpPr>
        <p:spPr>
          <a:xfrm>
            <a:off x="5760720" y="2029968"/>
            <a:ext cx="64008" cy="896112"/>
          </a:xfrm>
          <a:prstGeom prst="rect">
            <a:avLst/>
          </a:prstGeom>
          <a:solidFill>
            <a:srgbClr val="4FC3F7"/>
          </a:solidFill>
          <a:ln w="12700">
            <a:solidFill>
              <a:srgbClr val="4FC3F7"/>
            </a:solidFill>
            <a:prstDash val="solid"/>
          </a:ln>
        </p:spPr>
      </p:sp>
      <p:sp>
        <p:nvSpPr>
          <p:cNvPr id="23" name="Shape 20"/>
          <p:cNvSpPr/>
          <p:nvPr/>
        </p:nvSpPr>
        <p:spPr>
          <a:xfrm>
            <a:off x="5824728" y="2029968"/>
            <a:ext cx="2862072" cy="896112"/>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4" name="Text 21"/>
          <p:cNvSpPr/>
          <p:nvPr/>
        </p:nvSpPr>
        <p:spPr>
          <a:xfrm>
            <a:off x="5916168" y="2066544"/>
            <a:ext cx="2697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Jenkin et al. (2016)</a:t>
            </a:r>
            <a:endParaRPr lang="en-US" sz="1100" dirty="0"/>
          </a:p>
        </p:txBody>
      </p:sp>
      <p:sp>
        <p:nvSpPr>
          <p:cNvPr id="25" name="Text 22"/>
          <p:cNvSpPr/>
          <p:nvPr/>
        </p:nvSpPr>
        <p:spPr>
          <a:xfrm>
            <a:off x="5916168" y="2322576"/>
            <a:ext cx="2697480"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80–95% gold &amp; silver dissolution from mixed metals at ambient temperature. No cyanide.</a:t>
            </a:r>
            <a:endParaRPr lang="en-US" sz="1000" dirty="0"/>
          </a:p>
        </p:txBody>
      </p:sp>
      <p:sp>
        <p:nvSpPr>
          <p:cNvPr id="26" name="Shape 23"/>
          <p:cNvSpPr/>
          <p:nvPr/>
        </p:nvSpPr>
        <p:spPr>
          <a:xfrm>
            <a:off x="5760720" y="3054096"/>
            <a:ext cx="64008" cy="896112"/>
          </a:xfrm>
          <a:prstGeom prst="rect">
            <a:avLst/>
          </a:prstGeom>
          <a:solidFill>
            <a:srgbClr val="4FC3F7"/>
          </a:solidFill>
          <a:ln w="12700">
            <a:solidFill>
              <a:srgbClr val="4FC3F7"/>
            </a:solidFill>
            <a:prstDash val="solid"/>
          </a:ln>
        </p:spPr>
      </p:sp>
      <p:sp>
        <p:nvSpPr>
          <p:cNvPr id="27" name="Shape 24"/>
          <p:cNvSpPr/>
          <p:nvPr/>
        </p:nvSpPr>
        <p:spPr>
          <a:xfrm>
            <a:off x="5824728" y="3054096"/>
            <a:ext cx="2862072" cy="896112"/>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8" name="Text 25"/>
          <p:cNvSpPr/>
          <p:nvPr/>
        </p:nvSpPr>
        <p:spPr>
          <a:xfrm>
            <a:off x="5916168" y="3090672"/>
            <a:ext cx="2697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Tran et al. (2019)</a:t>
            </a:r>
            <a:endParaRPr lang="en-US" sz="1100" dirty="0"/>
          </a:p>
          <a:p>
            <a:pPr marL="0" indent="0">
              <a:buNone/>
            </a:pPr>
            <a:r>
              <a:rPr lang="en-US" sz="1100" b="1" dirty="0">
                <a:solidFill>
                  <a:srgbClr val="1E2761"/>
                </a:solidFill>
                <a:latin typeface="Calibri" pitchFamily="34" charset="0"/>
                <a:ea typeface="Calibri" pitchFamily="34" charset="-122"/>
                <a:cs typeface="Calibri" pitchFamily="34" charset="-120"/>
              </a:rPr>
              <a:t>Nature Energy</a:t>
            </a:r>
            <a:endParaRPr lang="en-US" sz="1100" dirty="0"/>
          </a:p>
        </p:txBody>
      </p:sp>
      <p:sp>
        <p:nvSpPr>
          <p:cNvPr id="29" name="Text 26"/>
          <p:cNvSpPr/>
          <p:nvPr/>
        </p:nvSpPr>
        <p:spPr>
          <a:xfrm>
            <a:off x="5916168" y="3346704"/>
            <a:ext cx="2697480"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&gt;90% Co &amp; Li from real Li-ion battery cathodes. Solvent regenerated across 5+ cycles.</a:t>
            </a:r>
            <a:endParaRPr lang="en-US" sz="1000" dirty="0"/>
          </a:p>
        </p:txBody>
      </p:sp>
      <p:sp>
        <p:nvSpPr>
          <p:cNvPr id="30" name="Shape 27"/>
          <p:cNvSpPr/>
          <p:nvPr/>
        </p:nvSpPr>
        <p:spPr>
          <a:xfrm>
            <a:off x="5760720" y="4078224"/>
            <a:ext cx="64008" cy="896112"/>
          </a:xfrm>
          <a:prstGeom prst="rect">
            <a:avLst/>
          </a:prstGeom>
          <a:solidFill>
            <a:srgbClr val="4FC3F7"/>
          </a:solidFill>
          <a:ln w="12700">
            <a:solidFill>
              <a:srgbClr val="4FC3F7"/>
            </a:solidFill>
            <a:prstDash val="solid"/>
          </a:ln>
        </p:spPr>
      </p:sp>
      <p:sp>
        <p:nvSpPr>
          <p:cNvPr id="31" name="Shape 28"/>
          <p:cNvSpPr/>
          <p:nvPr/>
        </p:nvSpPr>
        <p:spPr>
          <a:xfrm>
            <a:off x="5824728" y="4078224"/>
            <a:ext cx="2862072" cy="896112"/>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32" name="Text 29"/>
          <p:cNvSpPr/>
          <p:nvPr/>
        </p:nvSpPr>
        <p:spPr>
          <a:xfrm>
            <a:off x="5916168" y="4114800"/>
            <a:ext cx="2697480"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Amusa et al. (2026)</a:t>
            </a:r>
            <a:endParaRPr lang="en-US" sz="1100" dirty="0"/>
          </a:p>
        </p:txBody>
      </p:sp>
      <p:sp>
        <p:nvSpPr>
          <p:cNvPr id="33" name="Text 30"/>
          <p:cNvSpPr/>
          <p:nvPr/>
        </p:nvSpPr>
        <p:spPr>
          <a:xfrm>
            <a:off x="5916168" y="4370832"/>
            <a:ext cx="2697480"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150+ study meta-review confirms 100% Li, 99.6% Co, 95%+ Au/Cu under optimised DES conditions.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600" b="1" dirty="0">
                <a:solidFill>
                  <a:srgbClr val="1A1A2E"/>
                </a:solidFill>
                <a:latin typeface="Cambria" pitchFamily="34" charset="0"/>
                <a:ea typeface="Cambria" pitchFamily="34" charset="-122"/>
                <a:cs typeface="Cambria" pitchFamily="34" charset="-120"/>
              </a:rPr>
              <a:t>Deep Dive: Bioleaching — Bacterial vs. Fungal Routes</a:t>
            </a:r>
            <a:endParaRPr lang="en-US" sz="2600" dirty="0"/>
          </a:p>
        </p:txBody>
      </p:sp>
      <p:sp>
        <p:nvSpPr>
          <p:cNvPr id="3" name="Shape 1"/>
          <p:cNvSpPr/>
          <p:nvPr/>
        </p:nvSpPr>
        <p:spPr>
          <a:xfrm>
            <a:off x="365760" y="804672"/>
            <a:ext cx="4114800" cy="402336"/>
          </a:xfrm>
          <a:prstGeom prst="rect">
            <a:avLst/>
          </a:prstGeom>
          <a:solidFill>
            <a:srgbClr val="0D47A1"/>
          </a:solidFill>
          <a:ln w="12700">
            <a:solidFill>
              <a:srgbClr val="0D47A1"/>
            </a:solidFill>
            <a:prstDash val="solid"/>
          </a:ln>
        </p:spPr>
      </p:sp>
      <p:sp>
        <p:nvSpPr>
          <p:cNvPr id="4" name="Text 2"/>
          <p:cNvSpPr/>
          <p:nvPr/>
        </p:nvSpPr>
        <p:spPr>
          <a:xfrm>
            <a:off x="365760" y="804672"/>
            <a:ext cx="4114800"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Bacterial Bioleaching</a:t>
            </a:r>
            <a:endParaRPr lang="en-US" sz="1500" dirty="0"/>
          </a:p>
        </p:txBody>
      </p:sp>
      <p:sp>
        <p:nvSpPr>
          <p:cNvPr id="5" name="Shape 3"/>
          <p:cNvSpPr/>
          <p:nvPr/>
        </p:nvSpPr>
        <p:spPr>
          <a:xfrm>
            <a:off x="365760" y="1207008"/>
            <a:ext cx="4114800" cy="35204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6" name="Text 4"/>
          <p:cNvSpPr/>
          <p:nvPr/>
        </p:nvSpPr>
        <p:spPr>
          <a:xfrm>
            <a:off x="502920" y="1261872"/>
            <a:ext cx="1097280" cy="201168"/>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Organism(s):</a:t>
            </a:r>
            <a:endParaRPr lang="en-US" sz="1100" dirty="0"/>
          </a:p>
        </p:txBody>
      </p:sp>
      <p:sp>
        <p:nvSpPr>
          <p:cNvPr id="7" name="Text 5"/>
          <p:cNvSpPr/>
          <p:nvPr/>
        </p:nvSpPr>
        <p:spPr>
          <a:xfrm>
            <a:off x="1600200" y="1261872"/>
            <a:ext cx="2743200" cy="32004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Acidithiobacillus ferrooxidans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Chromobacterium violaceum</a:t>
            </a:r>
            <a:endParaRPr lang="en-US" sz="1100" dirty="0"/>
          </a:p>
        </p:txBody>
      </p:sp>
      <p:sp>
        <p:nvSpPr>
          <p:cNvPr id="8" name="Text 6"/>
          <p:cNvSpPr/>
          <p:nvPr/>
        </p:nvSpPr>
        <p:spPr>
          <a:xfrm>
            <a:off x="502920" y="1627632"/>
            <a:ext cx="1097280" cy="201168"/>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Mechanism:</a:t>
            </a:r>
            <a:endParaRPr lang="en-US" sz="1100" dirty="0"/>
          </a:p>
        </p:txBody>
      </p:sp>
      <p:sp>
        <p:nvSpPr>
          <p:cNvPr id="9" name="Text 7"/>
          <p:cNvSpPr/>
          <p:nvPr/>
        </p:nvSpPr>
        <p:spPr>
          <a:xfrm>
            <a:off x="1600200" y="1600200"/>
            <a:ext cx="2743200" cy="32004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Enzymatic oxidation at acidic pH</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(1.5–2.5)</a:t>
            </a:r>
            <a:endParaRPr lang="en-US" sz="1100" dirty="0"/>
          </a:p>
        </p:txBody>
      </p:sp>
      <p:sp>
        <p:nvSpPr>
          <p:cNvPr id="10" name="Shape 8"/>
          <p:cNvSpPr/>
          <p:nvPr/>
        </p:nvSpPr>
        <p:spPr>
          <a:xfrm>
            <a:off x="502920" y="1993392"/>
            <a:ext cx="1828800" cy="594360"/>
          </a:xfrm>
          <a:prstGeom prst="rect">
            <a:avLst/>
          </a:prstGeom>
          <a:solidFill>
            <a:srgbClr val="0D47A1"/>
          </a:solidFill>
          <a:ln w="12700">
            <a:solidFill>
              <a:srgbClr val="0D47A1"/>
            </a:solidFill>
            <a:prstDash val="solid"/>
          </a:ln>
        </p:spPr>
      </p:sp>
      <p:sp>
        <p:nvSpPr>
          <p:cNvPr id="11" name="Text 9"/>
          <p:cNvSpPr/>
          <p:nvPr/>
        </p:nvSpPr>
        <p:spPr>
          <a:xfrm>
            <a:off x="502920" y="1993392"/>
            <a:ext cx="182880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 Recovery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80–95%</a:t>
            </a:r>
            <a:endParaRPr lang="en-US" sz="1300" dirty="0"/>
          </a:p>
        </p:txBody>
      </p:sp>
      <p:sp>
        <p:nvSpPr>
          <p:cNvPr id="12" name="Shape 10"/>
          <p:cNvSpPr/>
          <p:nvPr/>
        </p:nvSpPr>
        <p:spPr>
          <a:xfrm>
            <a:off x="2468880" y="1993392"/>
            <a:ext cx="1828800" cy="594360"/>
          </a:xfrm>
          <a:prstGeom prst="rect">
            <a:avLst/>
          </a:prstGeom>
          <a:solidFill>
            <a:srgbClr val="EEF2FF"/>
          </a:solidFill>
          <a:ln w="12700">
            <a:solidFill>
              <a:srgbClr val="D1D5DB"/>
            </a:solidFill>
            <a:prstDash val="solid"/>
          </a:ln>
        </p:spPr>
      </p:sp>
      <p:sp>
        <p:nvSpPr>
          <p:cNvPr id="13" name="Text 11"/>
          <p:cNvSpPr/>
          <p:nvPr/>
        </p:nvSpPr>
        <p:spPr>
          <a:xfrm>
            <a:off x="2468880" y="1993392"/>
            <a:ext cx="1828800" cy="5943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Au Recovery</a:t>
            </a:r>
            <a:endParaRPr lang="en-US" sz="1300" dirty="0"/>
          </a:p>
          <a:p>
            <a:pPr marL="0" indent="0" algn="ctr">
              <a:buNone/>
            </a:pPr>
            <a:r>
              <a:rPr lang="en-US" sz="1300" b="1" dirty="0">
                <a:solidFill>
                  <a:srgbClr val="1E2761"/>
                </a:solidFill>
                <a:latin typeface="Calibri" pitchFamily="34" charset="0"/>
                <a:ea typeface="Calibri" pitchFamily="34" charset="-122"/>
                <a:cs typeface="Calibri" pitchFamily="34" charset="-120"/>
              </a:rPr>
              <a:t>55–69%</a:t>
            </a:r>
            <a:endParaRPr lang="en-US" sz="1300" dirty="0"/>
          </a:p>
        </p:txBody>
      </p:sp>
      <p:sp>
        <p:nvSpPr>
          <p:cNvPr id="14" name="Text 12"/>
          <p:cNvSpPr/>
          <p:nvPr/>
        </p:nvSpPr>
        <p:spPr>
          <a:xfrm>
            <a:off x="502920" y="2697480"/>
            <a:ext cx="3749040" cy="219456"/>
          </a:xfrm>
          <a:prstGeom prst="rect">
            <a:avLst/>
          </a:prstGeom>
          <a:noFill/>
          <a:ln/>
        </p:spPr>
        <p:txBody>
          <a:bodyPr wrap="square" rtlCol="0" anchor="ctr"/>
          <a:lstStyle/>
          <a:p>
            <a:pPr marL="0" indent="0">
              <a:buNone/>
            </a:pPr>
            <a:r>
              <a:rPr lang="en-US" sz="1100" b="1" dirty="0">
                <a:solidFill>
                  <a:srgbClr val="1B7A34"/>
                </a:solidFill>
                <a:latin typeface="Calibri" pitchFamily="34" charset="0"/>
                <a:ea typeface="Calibri" pitchFamily="34" charset="-122"/>
                <a:cs typeface="Calibri" pitchFamily="34" charset="-120"/>
              </a:rPr>
              <a:t>Advantages</a:t>
            </a:r>
            <a:endParaRPr lang="en-US" sz="1100" dirty="0"/>
          </a:p>
        </p:txBody>
      </p:sp>
      <p:sp>
        <p:nvSpPr>
          <p:cNvPr id="15" name="Text 13"/>
          <p:cNvSpPr/>
          <p:nvPr/>
        </p:nvSpPr>
        <p:spPr>
          <a:xfrm>
            <a:off x="502920" y="2926080"/>
            <a:ext cx="374904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High peak copper recovery</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Well-documented in literature</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Scalable in column reactor configs</a:t>
            </a:r>
            <a:endParaRPr lang="en-US" sz="1100" dirty="0"/>
          </a:p>
        </p:txBody>
      </p:sp>
      <p:sp>
        <p:nvSpPr>
          <p:cNvPr id="16" name="Text 14"/>
          <p:cNvSpPr/>
          <p:nvPr/>
        </p:nvSpPr>
        <p:spPr>
          <a:xfrm>
            <a:off x="502920" y="3584448"/>
            <a:ext cx="3749040" cy="219456"/>
          </a:xfrm>
          <a:prstGeom prst="rect">
            <a:avLst/>
          </a:prstGeom>
          <a:noFill/>
          <a:ln/>
        </p:spPr>
        <p:txBody>
          <a:bodyPr wrap="square" rtlCol="0" anchor="ctr"/>
          <a:lstStyle/>
          <a:p>
            <a:pPr marL="0" indent="0">
              <a:buNone/>
            </a:pPr>
            <a:r>
              <a:rPr lang="en-US" sz="1100" b="1" dirty="0">
                <a:solidFill>
                  <a:srgbClr val="B71C1C"/>
                </a:solidFill>
                <a:latin typeface="Calibri" pitchFamily="34" charset="0"/>
                <a:ea typeface="Calibri" pitchFamily="34" charset="-122"/>
                <a:cs typeface="Calibri" pitchFamily="34" charset="-120"/>
              </a:rPr>
              <a:t>Limitations</a:t>
            </a:r>
            <a:endParaRPr lang="en-US" sz="1100" dirty="0"/>
          </a:p>
        </p:txBody>
      </p:sp>
      <p:sp>
        <p:nvSpPr>
          <p:cNvPr id="17" name="Text 15"/>
          <p:cNvSpPr/>
          <p:nvPr/>
        </p:nvSpPr>
        <p:spPr>
          <a:xfrm>
            <a:off x="502920" y="3813048"/>
            <a:ext cx="3749040" cy="82296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Strict pH maintenance required</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Long process time (~70 days)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Challenging for informal ops without pH monitoring</a:t>
            </a:r>
            <a:endParaRPr lang="en-US" sz="1100" dirty="0"/>
          </a:p>
        </p:txBody>
      </p:sp>
      <p:sp>
        <p:nvSpPr>
          <p:cNvPr id="18" name="Shape 16"/>
          <p:cNvSpPr/>
          <p:nvPr/>
        </p:nvSpPr>
        <p:spPr>
          <a:xfrm>
            <a:off x="4663440" y="804672"/>
            <a:ext cx="4114800" cy="402336"/>
          </a:xfrm>
          <a:prstGeom prst="rect">
            <a:avLst/>
          </a:prstGeom>
          <a:solidFill>
            <a:srgbClr val="028090"/>
          </a:solidFill>
          <a:ln w="12700">
            <a:solidFill>
              <a:srgbClr val="028090"/>
            </a:solidFill>
            <a:prstDash val="solid"/>
          </a:ln>
        </p:spPr>
      </p:sp>
      <p:sp>
        <p:nvSpPr>
          <p:cNvPr id="19" name="Text 17"/>
          <p:cNvSpPr/>
          <p:nvPr/>
        </p:nvSpPr>
        <p:spPr>
          <a:xfrm>
            <a:off x="4663440" y="804672"/>
            <a:ext cx="4114800"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Fungal Bioleaching</a:t>
            </a:r>
            <a:endParaRPr lang="en-US" sz="1500" dirty="0"/>
          </a:p>
        </p:txBody>
      </p:sp>
      <p:sp>
        <p:nvSpPr>
          <p:cNvPr id="20" name="Shape 18"/>
          <p:cNvSpPr/>
          <p:nvPr/>
        </p:nvSpPr>
        <p:spPr>
          <a:xfrm>
            <a:off x="4663440" y="1207008"/>
            <a:ext cx="4114800" cy="35204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1" name="Text 19"/>
          <p:cNvSpPr/>
          <p:nvPr/>
        </p:nvSpPr>
        <p:spPr>
          <a:xfrm>
            <a:off x="4800600" y="1261872"/>
            <a:ext cx="1097280" cy="201168"/>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Organism(s):</a:t>
            </a:r>
            <a:endParaRPr lang="en-US" sz="1100" dirty="0"/>
          </a:p>
        </p:txBody>
      </p:sp>
      <p:sp>
        <p:nvSpPr>
          <p:cNvPr id="22" name="Text 20"/>
          <p:cNvSpPr/>
          <p:nvPr/>
        </p:nvSpPr>
        <p:spPr>
          <a:xfrm>
            <a:off x="5897880" y="1261872"/>
            <a:ext cx="2743200" cy="32004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Aspergillus niger</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Penicillium simplicissimum</a:t>
            </a:r>
            <a:endParaRPr lang="en-US" sz="1100" dirty="0"/>
          </a:p>
        </p:txBody>
      </p:sp>
      <p:sp>
        <p:nvSpPr>
          <p:cNvPr id="23" name="Text 21"/>
          <p:cNvSpPr/>
          <p:nvPr/>
        </p:nvSpPr>
        <p:spPr>
          <a:xfrm>
            <a:off x="4800600" y="1627632"/>
            <a:ext cx="1097280" cy="201168"/>
          </a:xfrm>
          <a:prstGeom prst="rect">
            <a:avLst/>
          </a:prstGeom>
          <a:noFill/>
          <a:ln/>
        </p:spPr>
        <p:txBody>
          <a:bodyPr wrap="square"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Mechanism:</a:t>
            </a:r>
            <a:endParaRPr lang="en-US" sz="1100" dirty="0"/>
          </a:p>
        </p:txBody>
      </p:sp>
      <p:sp>
        <p:nvSpPr>
          <p:cNvPr id="24" name="Text 22"/>
          <p:cNvSpPr/>
          <p:nvPr/>
        </p:nvSpPr>
        <p:spPr>
          <a:xfrm>
            <a:off x="5897880" y="1600200"/>
            <a:ext cx="2743200" cy="32004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Citric &amp; gluconic acid production</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at near-neutral pH (4–6)</a:t>
            </a:r>
            <a:endParaRPr lang="en-US" sz="1100" dirty="0"/>
          </a:p>
        </p:txBody>
      </p:sp>
      <p:sp>
        <p:nvSpPr>
          <p:cNvPr id="25" name="Shape 23"/>
          <p:cNvSpPr/>
          <p:nvPr/>
        </p:nvSpPr>
        <p:spPr>
          <a:xfrm>
            <a:off x="4800600" y="1993392"/>
            <a:ext cx="1828800" cy="594360"/>
          </a:xfrm>
          <a:prstGeom prst="rect">
            <a:avLst/>
          </a:prstGeom>
          <a:solidFill>
            <a:srgbClr val="028090"/>
          </a:solidFill>
          <a:ln w="12700">
            <a:solidFill>
              <a:srgbClr val="028090"/>
            </a:solidFill>
            <a:prstDash val="solid"/>
          </a:ln>
        </p:spPr>
      </p:sp>
      <p:sp>
        <p:nvSpPr>
          <p:cNvPr id="26" name="Text 24"/>
          <p:cNvSpPr/>
          <p:nvPr/>
        </p:nvSpPr>
        <p:spPr>
          <a:xfrm>
            <a:off x="4800600" y="1993392"/>
            <a:ext cx="182880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 Recovery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85%</a:t>
            </a:r>
            <a:endParaRPr lang="en-US" sz="1300" dirty="0"/>
          </a:p>
        </p:txBody>
      </p:sp>
      <p:sp>
        <p:nvSpPr>
          <p:cNvPr id="27" name="Shape 25"/>
          <p:cNvSpPr/>
          <p:nvPr/>
        </p:nvSpPr>
        <p:spPr>
          <a:xfrm>
            <a:off x="6766560" y="1993392"/>
            <a:ext cx="1828800" cy="594360"/>
          </a:xfrm>
          <a:prstGeom prst="rect">
            <a:avLst/>
          </a:prstGeom>
          <a:solidFill>
            <a:srgbClr val="EEF2FF"/>
          </a:solidFill>
          <a:ln w="12700">
            <a:solidFill>
              <a:srgbClr val="D1D5DB"/>
            </a:solidFill>
            <a:prstDash val="solid"/>
          </a:ln>
        </p:spPr>
      </p:sp>
      <p:sp>
        <p:nvSpPr>
          <p:cNvPr id="28" name="Text 26"/>
          <p:cNvSpPr/>
          <p:nvPr/>
        </p:nvSpPr>
        <p:spPr>
          <a:xfrm>
            <a:off x="6766560" y="1993392"/>
            <a:ext cx="1828800" cy="5943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Au Recovery</a:t>
            </a:r>
            <a:endParaRPr lang="en-US" sz="1300" dirty="0"/>
          </a:p>
          <a:p>
            <a:pPr marL="0" indent="0" algn="ctr">
              <a:buNone/>
            </a:pPr>
            <a:r>
              <a:rPr lang="en-US" sz="1300" b="1" dirty="0">
                <a:solidFill>
                  <a:srgbClr val="1E2761"/>
                </a:solidFill>
                <a:latin typeface="Calibri" pitchFamily="34" charset="0"/>
                <a:ea typeface="Calibri" pitchFamily="34" charset="-122"/>
                <a:cs typeface="Calibri" pitchFamily="34" charset="-120"/>
              </a:rPr>
              <a:t>~40–55%</a:t>
            </a:r>
            <a:endParaRPr lang="en-US" sz="1300" dirty="0"/>
          </a:p>
        </p:txBody>
      </p:sp>
      <p:sp>
        <p:nvSpPr>
          <p:cNvPr id="29" name="Text 27"/>
          <p:cNvSpPr/>
          <p:nvPr/>
        </p:nvSpPr>
        <p:spPr>
          <a:xfrm>
            <a:off x="4800600" y="2697480"/>
            <a:ext cx="3749040" cy="219456"/>
          </a:xfrm>
          <a:prstGeom prst="rect">
            <a:avLst/>
          </a:prstGeom>
          <a:noFill/>
          <a:ln/>
        </p:spPr>
        <p:txBody>
          <a:bodyPr wrap="square" rtlCol="0" anchor="ctr"/>
          <a:lstStyle/>
          <a:p>
            <a:pPr marL="0" indent="0">
              <a:buNone/>
            </a:pPr>
            <a:r>
              <a:rPr lang="en-US" sz="1100" b="1" dirty="0">
                <a:solidFill>
                  <a:srgbClr val="1B7A34"/>
                </a:solidFill>
                <a:latin typeface="Calibri" pitchFamily="34" charset="0"/>
                <a:ea typeface="Calibri" pitchFamily="34" charset="-122"/>
                <a:cs typeface="Calibri" pitchFamily="34" charset="-120"/>
              </a:rPr>
              <a:t>Advantages</a:t>
            </a:r>
            <a:endParaRPr lang="en-US" sz="1100" dirty="0"/>
          </a:p>
        </p:txBody>
      </p:sp>
      <p:sp>
        <p:nvSpPr>
          <p:cNvPr id="30" name="Text 28"/>
          <p:cNvSpPr/>
          <p:nvPr/>
        </p:nvSpPr>
        <p:spPr>
          <a:xfrm>
            <a:off x="4800600" y="2926080"/>
            <a:ext cx="374904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Near-neutral pH — no acid dosing needed</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Tolerates 20% pulp density</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More accessible for informal settings</a:t>
            </a:r>
            <a:endParaRPr lang="en-US" sz="1100" dirty="0"/>
          </a:p>
        </p:txBody>
      </p:sp>
      <p:sp>
        <p:nvSpPr>
          <p:cNvPr id="31" name="Text 29"/>
          <p:cNvSpPr/>
          <p:nvPr/>
        </p:nvSpPr>
        <p:spPr>
          <a:xfrm>
            <a:off x="4800600" y="3584448"/>
            <a:ext cx="3749040" cy="219456"/>
          </a:xfrm>
          <a:prstGeom prst="rect">
            <a:avLst/>
          </a:prstGeom>
          <a:noFill/>
          <a:ln/>
        </p:spPr>
        <p:txBody>
          <a:bodyPr wrap="square" rtlCol="0" anchor="ctr"/>
          <a:lstStyle/>
          <a:p>
            <a:pPr marL="0" indent="0">
              <a:buNone/>
            </a:pPr>
            <a:r>
              <a:rPr lang="en-US" sz="1100" b="1" dirty="0">
                <a:solidFill>
                  <a:srgbClr val="B71C1C"/>
                </a:solidFill>
                <a:latin typeface="Calibri" pitchFamily="34" charset="0"/>
                <a:ea typeface="Calibri" pitchFamily="34" charset="-122"/>
                <a:cs typeface="Calibri" pitchFamily="34" charset="-120"/>
              </a:rPr>
              <a:t>Limitations</a:t>
            </a:r>
            <a:endParaRPr lang="en-US" sz="1100" dirty="0"/>
          </a:p>
        </p:txBody>
      </p:sp>
      <p:sp>
        <p:nvSpPr>
          <p:cNvPr id="32" name="Text 30"/>
          <p:cNvSpPr/>
          <p:nvPr/>
        </p:nvSpPr>
        <p:spPr>
          <a:xfrm>
            <a:off x="4800600" y="3813048"/>
            <a:ext cx="3749040" cy="82296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Slightly lower peak recovery than bacterial</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Requires incubation infrastructure</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Longer culture preparation time</a:t>
            </a:r>
            <a:endParaRPr lang="en-US" sz="1100" dirty="0"/>
          </a:p>
        </p:txBody>
      </p:sp>
      <p:sp>
        <p:nvSpPr>
          <p:cNvPr id="33" name="Shape 31"/>
          <p:cNvSpPr/>
          <p:nvPr/>
        </p:nvSpPr>
        <p:spPr>
          <a:xfrm>
            <a:off x="365760" y="4846320"/>
            <a:ext cx="8412480" cy="256032"/>
          </a:xfrm>
          <a:prstGeom prst="rect">
            <a:avLst/>
          </a:prstGeom>
          <a:solidFill>
            <a:srgbClr val="1E2761"/>
          </a:solidFill>
          <a:ln w="12700">
            <a:solidFill>
              <a:srgbClr val="1E2761"/>
            </a:solidFill>
            <a:prstDash val="solid"/>
          </a:ln>
        </p:spPr>
      </p:sp>
      <p:sp>
        <p:nvSpPr>
          <p:cNvPr id="34" name="Text 32"/>
          <p:cNvSpPr/>
          <p:nvPr/>
        </p:nvSpPr>
        <p:spPr>
          <a:xfrm>
            <a:off x="365760" y="4846320"/>
            <a:ext cx="8412480" cy="256032"/>
          </a:xfrm>
          <a:prstGeom prst="rect">
            <a:avLst/>
          </a:prstGeom>
          <a:noFill/>
          <a:ln/>
        </p:spPr>
        <p:txBody>
          <a:bodyPr wrap="square" rtlCol="0" anchor="ctr"/>
          <a:lstStyle/>
          <a:p>
            <a:pPr marL="0" indent="0" algn="ctr">
              <a:buNone/>
            </a:pPr>
            <a:r>
              <a:rPr lang="en-US" sz="1100" b="1" dirty="0">
                <a:solidFill>
                  <a:srgbClr val="4FC3F7"/>
                </a:solidFill>
                <a:latin typeface="Calibri" pitchFamily="34" charset="0"/>
                <a:ea typeface="Calibri" pitchFamily="34" charset="-122"/>
                <a:cs typeface="Calibri" pitchFamily="34" charset="-120"/>
              </a:rPr>
              <a:t>Verdict for Solapur: Fungal bioleaching is the realistic near-term entry point — no acid dosing, tolerates high pulp density, and requires only incubation infrastructure.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India's E-Waste Policy Landscape</a:t>
            </a:r>
            <a:endParaRPr lang="en-US" sz="2800" dirty="0"/>
          </a:p>
        </p:txBody>
      </p:sp>
      <p:sp>
        <p:nvSpPr>
          <p:cNvPr id="3" name="Shape 1"/>
          <p:cNvSpPr/>
          <p:nvPr/>
        </p:nvSpPr>
        <p:spPr>
          <a:xfrm>
            <a:off x="457200" y="868680"/>
            <a:ext cx="822960" cy="411480"/>
          </a:xfrm>
          <a:prstGeom prst="rect">
            <a:avLst/>
          </a:prstGeom>
          <a:solidFill>
            <a:srgbClr val="1E2761"/>
          </a:solidFill>
          <a:ln w="12700">
            <a:solidFill>
              <a:srgbClr val="1E2761"/>
            </a:solidFill>
            <a:prstDash val="solid"/>
          </a:ln>
        </p:spPr>
      </p:sp>
      <p:sp>
        <p:nvSpPr>
          <p:cNvPr id="4" name="Text 2"/>
          <p:cNvSpPr/>
          <p:nvPr/>
        </p:nvSpPr>
        <p:spPr>
          <a:xfrm>
            <a:off x="457200" y="868680"/>
            <a:ext cx="8229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2011</a:t>
            </a:r>
            <a:endParaRPr lang="en-US" sz="1300" dirty="0"/>
          </a:p>
        </p:txBody>
      </p:sp>
      <p:sp>
        <p:nvSpPr>
          <p:cNvPr id="5" name="Shape 3"/>
          <p:cNvSpPr/>
          <p:nvPr/>
        </p:nvSpPr>
        <p:spPr>
          <a:xfrm>
            <a:off x="1280160" y="1060704"/>
            <a:ext cx="274320" cy="36576"/>
          </a:xfrm>
          <a:prstGeom prst="rect">
            <a:avLst/>
          </a:prstGeom>
          <a:solidFill>
            <a:srgbClr val="4FC3F7"/>
          </a:solidFill>
          <a:ln w="12700">
            <a:solidFill>
              <a:srgbClr val="4FC3F7"/>
            </a:solidFill>
            <a:prstDash val="solid"/>
          </a:ln>
        </p:spPr>
      </p:sp>
      <p:sp>
        <p:nvSpPr>
          <p:cNvPr id="6" name="Shape 4"/>
          <p:cNvSpPr/>
          <p:nvPr/>
        </p:nvSpPr>
        <p:spPr>
          <a:xfrm>
            <a:off x="1554480" y="822960"/>
            <a:ext cx="7132320" cy="84124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7" name="Text 5"/>
          <p:cNvSpPr/>
          <p:nvPr/>
        </p:nvSpPr>
        <p:spPr>
          <a:xfrm>
            <a:off x="1691640" y="877824"/>
            <a:ext cx="6858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E-Waste (Management &amp; Handling) Rules</a:t>
            </a:r>
            <a:endParaRPr lang="en-US" sz="1300" dirty="0"/>
          </a:p>
        </p:txBody>
      </p:sp>
      <p:sp>
        <p:nvSpPr>
          <p:cNvPr id="8" name="Text 6"/>
          <p:cNvSpPr/>
          <p:nvPr/>
        </p:nvSpPr>
        <p:spPr>
          <a:xfrm>
            <a:off x="1691640" y="1152144"/>
            <a:ext cx="6858000" cy="43891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First dedicated Indian e-waste legislation. Mandated Extended Producer Responsibility (EPR) and authorized recycler network.</a:t>
            </a:r>
            <a:endParaRPr lang="en-US" sz="1100" dirty="0"/>
          </a:p>
        </p:txBody>
      </p:sp>
      <p:sp>
        <p:nvSpPr>
          <p:cNvPr id="9" name="Shape 7"/>
          <p:cNvSpPr/>
          <p:nvPr/>
        </p:nvSpPr>
        <p:spPr>
          <a:xfrm>
            <a:off x="457200" y="1874520"/>
            <a:ext cx="822960" cy="411480"/>
          </a:xfrm>
          <a:prstGeom prst="rect">
            <a:avLst/>
          </a:prstGeom>
          <a:solidFill>
            <a:srgbClr val="1E2761"/>
          </a:solidFill>
          <a:ln w="12700">
            <a:solidFill>
              <a:srgbClr val="1E2761"/>
            </a:solidFill>
            <a:prstDash val="solid"/>
          </a:ln>
        </p:spPr>
      </p:sp>
      <p:sp>
        <p:nvSpPr>
          <p:cNvPr id="10" name="Text 8"/>
          <p:cNvSpPr/>
          <p:nvPr/>
        </p:nvSpPr>
        <p:spPr>
          <a:xfrm>
            <a:off x="457200" y="1874520"/>
            <a:ext cx="8229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2016</a:t>
            </a:r>
            <a:endParaRPr lang="en-US" sz="1300" dirty="0"/>
          </a:p>
        </p:txBody>
      </p:sp>
      <p:sp>
        <p:nvSpPr>
          <p:cNvPr id="11" name="Shape 9"/>
          <p:cNvSpPr/>
          <p:nvPr/>
        </p:nvSpPr>
        <p:spPr>
          <a:xfrm>
            <a:off x="1280160" y="2066544"/>
            <a:ext cx="274320" cy="36576"/>
          </a:xfrm>
          <a:prstGeom prst="rect">
            <a:avLst/>
          </a:prstGeom>
          <a:solidFill>
            <a:srgbClr val="4FC3F7"/>
          </a:solidFill>
          <a:ln w="12700">
            <a:solidFill>
              <a:srgbClr val="4FC3F7"/>
            </a:solidFill>
            <a:prstDash val="solid"/>
          </a:ln>
        </p:spPr>
      </p:sp>
      <p:sp>
        <p:nvSpPr>
          <p:cNvPr id="12" name="Shape 10"/>
          <p:cNvSpPr/>
          <p:nvPr/>
        </p:nvSpPr>
        <p:spPr>
          <a:xfrm>
            <a:off x="1554480" y="1828800"/>
            <a:ext cx="7132320" cy="84124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3" name="Text 11"/>
          <p:cNvSpPr/>
          <p:nvPr/>
        </p:nvSpPr>
        <p:spPr>
          <a:xfrm>
            <a:off x="1691640" y="1883664"/>
            <a:ext cx="6858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E-Waste Management Rules (Revised)</a:t>
            </a:r>
            <a:endParaRPr lang="en-US" sz="1300" dirty="0"/>
          </a:p>
        </p:txBody>
      </p:sp>
      <p:sp>
        <p:nvSpPr>
          <p:cNvPr id="14" name="Text 12"/>
          <p:cNvSpPr/>
          <p:nvPr/>
        </p:nvSpPr>
        <p:spPr>
          <a:xfrm>
            <a:off x="1691640" y="2157984"/>
            <a:ext cx="6858000" cy="43891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Strengthened EPR framework. Set producer collection targets. Introduced deposit-refund scheme. Maharashtra among first states to attempt enforcement.</a:t>
            </a:r>
            <a:endParaRPr lang="en-US" sz="1100" dirty="0"/>
          </a:p>
        </p:txBody>
      </p:sp>
      <p:sp>
        <p:nvSpPr>
          <p:cNvPr id="15" name="Shape 13"/>
          <p:cNvSpPr/>
          <p:nvPr/>
        </p:nvSpPr>
        <p:spPr>
          <a:xfrm>
            <a:off x="457200" y="2880360"/>
            <a:ext cx="822960" cy="411480"/>
          </a:xfrm>
          <a:prstGeom prst="rect">
            <a:avLst/>
          </a:prstGeom>
          <a:solidFill>
            <a:srgbClr val="1E2761"/>
          </a:solidFill>
          <a:ln w="12700">
            <a:solidFill>
              <a:srgbClr val="1E2761"/>
            </a:solidFill>
            <a:prstDash val="solid"/>
          </a:ln>
        </p:spPr>
      </p:sp>
      <p:sp>
        <p:nvSpPr>
          <p:cNvPr id="16" name="Text 14"/>
          <p:cNvSpPr/>
          <p:nvPr/>
        </p:nvSpPr>
        <p:spPr>
          <a:xfrm>
            <a:off x="457200" y="2880360"/>
            <a:ext cx="8229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2022</a:t>
            </a:r>
            <a:endParaRPr lang="en-US" sz="1300" dirty="0"/>
          </a:p>
        </p:txBody>
      </p:sp>
      <p:sp>
        <p:nvSpPr>
          <p:cNvPr id="17" name="Shape 15"/>
          <p:cNvSpPr/>
          <p:nvPr/>
        </p:nvSpPr>
        <p:spPr>
          <a:xfrm>
            <a:off x="1280160" y="3072384"/>
            <a:ext cx="274320" cy="36576"/>
          </a:xfrm>
          <a:prstGeom prst="rect">
            <a:avLst/>
          </a:prstGeom>
          <a:solidFill>
            <a:srgbClr val="4FC3F7"/>
          </a:solidFill>
          <a:ln w="12700">
            <a:solidFill>
              <a:srgbClr val="4FC3F7"/>
            </a:solidFill>
            <a:prstDash val="solid"/>
          </a:ln>
        </p:spPr>
      </p:sp>
      <p:sp>
        <p:nvSpPr>
          <p:cNvPr id="18" name="Shape 16"/>
          <p:cNvSpPr/>
          <p:nvPr/>
        </p:nvSpPr>
        <p:spPr>
          <a:xfrm>
            <a:off x="1554480" y="2834640"/>
            <a:ext cx="7132320" cy="84124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9" name="Text 17"/>
          <p:cNvSpPr/>
          <p:nvPr/>
        </p:nvSpPr>
        <p:spPr>
          <a:xfrm>
            <a:off x="1691640" y="2889504"/>
            <a:ext cx="6858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E-Waste Management Rules 2022</a:t>
            </a:r>
            <a:endParaRPr lang="en-US" sz="1300" dirty="0"/>
          </a:p>
        </p:txBody>
      </p:sp>
      <p:sp>
        <p:nvSpPr>
          <p:cNvPr id="20" name="Text 18"/>
          <p:cNvSpPr/>
          <p:nvPr/>
        </p:nvSpPr>
        <p:spPr>
          <a:xfrm>
            <a:off x="1691640" y="3163824"/>
            <a:ext cx="6858000" cy="43891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Most significant update. Producer recovery targets scaled from 25% to 70% over 4 years. Mandates formal recycler channelization for Tier-2 cities including Solapur.</a:t>
            </a:r>
            <a:endParaRPr lang="en-US" sz="1100" dirty="0"/>
          </a:p>
        </p:txBody>
      </p:sp>
      <p:sp>
        <p:nvSpPr>
          <p:cNvPr id="21" name="Shape 19"/>
          <p:cNvSpPr/>
          <p:nvPr/>
        </p:nvSpPr>
        <p:spPr>
          <a:xfrm>
            <a:off x="457200" y="3886200"/>
            <a:ext cx="822960" cy="411480"/>
          </a:xfrm>
          <a:prstGeom prst="rect">
            <a:avLst/>
          </a:prstGeom>
          <a:solidFill>
            <a:srgbClr val="1E2761"/>
          </a:solidFill>
          <a:ln w="12700">
            <a:solidFill>
              <a:srgbClr val="1E2761"/>
            </a:solidFill>
            <a:prstDash val="solid"/>
          </a:ln>
        </p:spPr>
      </p:sp>
      <p:sp>
        <p:nvSpPr>
          <p:cNvPr id="22" name="Text 20"/>
          <p:cNvSpPr/>
          <p:nvPr/>
        </p:nvSpPr>
        <p:spPr>
          <a:xfrm>
            <a:off x="457200" y="3886200"/>
            <a:ext cx="8229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2023+</a:t>
            </a:r>
            <a:endParaRPr lang="en-US" sz="1300" dirty="0"/>
          </a:p>
        </p:txBody>
      </p:sp>
      <p:sp>
        <p:nvSpPr>
          <p:cNvPr id="23" name="Shape 21"/>
          <p:cNvSpPr/>
          <p:nvPr/>
        </p:nvSpPr>
        <p:spPr>
          <a:xfrm>
            <a:off x="1280160" y="4078224"/>
            <a:ext cx="274320" cy="36576"/>
          </a:xfrm>
          <a:prstGeom prst="rect">
            <a:avLst/>
          </a:prstGeom>
          <a:solidFill>
            <a:srgbClr val="4FC3F7"/>
          </a:solidFill>
          <a:ln w="12700">
            <a:solidFill>
              <a:srgbClr val="4FC3F7"/>
            </a:solidFill>
            <a:prstDash val="solid"/>
          </a:ln>
        </p:spPr>
      </p:sp>
      <p:sp>
        <p:nvSpPr>
          <p:cNvPr id="24" name="Shape 22"/>
          <p:cNvSpPr/>
          <p:nvPr/>
        </p:nvSpPr>
        <p:spPr>
          <a:xfrm>
            <a:off x="1554480" y="3840480"/>
            <a:ext cx="7132320" cy="84124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5" name="Text 23"/>
          <p:cNvSpPr/>
          <p:nvPr/>
        </p:nvSpPr>
        <p:spPr>
          <a:xfrm>
            <a:off x="1691640" y="3895344"/>
            <a:ext cx="68580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Enforcement &amp; Compliance Phase</a:t>
            </a:r>
            <a:endParaRPr lang="en-US" sz="1300" dirty="0"/>
          </a:p>
        </p:txBody>
      </p:sp>
      <p:sp>
        <p:nvSpPr>
          <p:cNvPr id="26" name="Text 24"/>
          <p:cNvSpPr/>
          <p:nvPr/>
        </p:nvSpPr>
        <p:spPr>
          <a:xfrm>
            <a:off x="1691640" y="4169664"/>
            <a:ext cx="6858000" cy="43891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State-level PCBs (Pollution Control Boards) tasked with annual compliance audits. Non-compliant producers face penalties up to ₹1 crore.</a:t>
            </a:r>
            <a:endParaRPr lang="en-US" sz="1100" dirty="0"/>
          </a:p>
        </p:txBody>
      </p:sp>
      <p:sp>
        <p:nvSpPr>
          <p:cNvPr id="27" name="Shape 25"/>
          <p:cNvSpPr/>
          <p:nvPr/>
        </p:nvSpPr>
        <p:spPr>
          <a:xfrm>
            <a:off x="457200" y="4754880"/>
            <a:ext cx="8229600" cy="329184"/>
          </a:xfrm>
          <a:prstGeom prst="rect">
            <a:avLst/>
          </a:prstGeom>
          <a:solidFill>
            <a:srgbClr val="4FC3F7"/>
          </a:solidFill>
          <a:ln w="12700">
            <a:solidFill>
              <a:srgbClr val="4FC3F7"/>
            </a:solidFill>
            <a:prstDash val="solid"/>
          </a:ln>
        </p:spPr>
      </p:sp>
      <p:sp>
        <p:nvSpPr>
          <p:cNvPr id="28" name="Text 26"/>
          <p:cNvSpPr/>
          <p:nvPr/>
        </p:nvSpPr>
        <p:spPr>
          <a:xfrm>
            <a:off x="457200" y="4754880"/>
            <a:ext cx="8229600" cy="329184"/>
          </a:xfrm>
          <a:prstGeom prst="rect">
            <a:avLst/>
          </a:prstGeom>
          <a:noFill/>
          <a:ln/>
        </p:spPr>
        <p:txBody>
          <a:bodyPr wrap="square" rtlCol="0" anchor="ctr"/>
          <a:lstStyle/>
          <a:p>
            <a:pPr marL="0" indent="0" algn="ctr">
              <a:buNone/>
            </a:pPr>
            <a:r>
              <a:rPr lang="en-US" sz="1100" i="1" dirty="0">
                <a:solidFill>
                  <a:srgbClr val="1E2761"/>
                </a:solidFill>
                <a:latin typeface="Calibri" pitchFamily="34" charset="0"/>
                <a:ea typeface="Calibri" pitchFamily="34" charset="-122"/>
                <a:cs typeface="Calibri" pitchFamily="34" charset="-120"/>
              </a:rPr>
              <a:t>Key insight: E-Waste Rules 2022 create regulatory PUSH (compliance pressure) while DES/bioleaching economics create financial PULL — together these open the window for Solapur formalisation.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C3F7"/>
          </a:solidFill>
          <a:ln w="12700">
            <a:solidFill>
              <a:srgbClr val="4FC3F7"/>
            </a:solidFill>
            <a:prstDash val="solid"/>
          </a:ln>
        </p:spPr>
      </p:sp>
      <p:sp>
        <p:nvSpPr>
          <p:cNvPr id="3" name="Text 1"/>
          <p:cNvSpPr/>
          <p:nvPr/>
        </p:nvSpPr>
        <p:spPr>
          <a:xfrm>
            <a:off x="457200" y="137160"/>
            <a:ext cx="82296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Phased Implementation Roadmap for Solapur</a:t>
            </a:r>
            <a:endParaRPr lang="en-US" sz="2800" dirty="0"/>
          </a:p>
        </p:txBody>
      </p:sp>
      <p:sp>
        <p:nvSpPr>
          <p:cNvPr id="4" name="Shape 2"/>
          <p:cNvSpPr/>
          <p:nvPr/>
        </p:nvSpPr>
        <p:spPr>
          <a:xfrm>
            <a:off x="365760" y="804672"/>
            <a:ext cx="2724912" cy="502920"/>
          </a:xfrm>
          <a:prstGeom prst="rect">
            <a:avLst/>
          </a:prstGeom>
          <a:solidFill>
            <a:srgbClr val="4FC3F7"/>
          </a:solidFill>
          <a:ln w="12700">
            <a:solidFill>
              <a:srgbClr val="4FC3F7"/>
            </a:solidFill>
            <a:prstDash val="solid"/>
          </a:ln>
        </p:spPr>
      </p:sp>
      <p:sp>
        <p:nvSpPr>
          <p:cNvPr id="5" name="Text 3"/>
          <p:cNvSpPr/>
          <p:nvPr/>
        </p:nvSpPr>
        <p:spPr>
          <a:xfrm>
            <a:off x="365760" y="804672"/>
            <a:ext cx="2724912" cy="50292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Phase 1</a:t>
            </a:r>
            <a:endParaRPr lang="en-US" sz="1300" dirty="0"/>
          </a:p>
          <a:p>
            <a:pPr marL="0" indent="0" algn="ctr">
              <a:buNone/>
            </a:pPr>
            <a:r>
              <a:rPr lang="en-US" sz="1300" b="1" dirty="0">
                <a:solidFill>
                  <a:srgbClr val="1E2761"/>
                </a:solidFill>
                <a:latin typeface="Calibri" pitchFamily="34" charset="0"/>
                <a:ea typeface="Calibri" pitchFamily="34" charset="-122"/>
                <a:cs typeface="Calibri" pitchFamily="34" charset="-120"/>
              </a:rPr>
              <a:t>(0–6 months)</a:t>
            </a:r>
            <a:endParaRPr lang="en-US" sz="1300" dirty="0"/>
          </a:p>
        </p:txBody>
      </p:sp>
      <p:sp>
        <p:nvSpPr>
          <p:cNvPr id="6" name="Shape 4"/>
          <p:cNvSpPr/>
          <p:nvPr/>
        </p:nvSpPr>
        <p:spPr>
          <a:xfrm>
            <a:off x="365760" y="1307592"/>
            <a:ext cx="2724912" cy="3108960"/>
          </a:xfrm>
          <a:prstGeom prst="rect">
            <a:avLst/>
          </a:prstGeom>
          <a:solidFill>
            <a:srgbClr val="182057"/>
          </a:solidFill>
          <a:ln w="12700">
            <a:solidFill>
              <a:srgbClr val="2A3580"/>
            </a:solidFill>
            <a:prstDash val="solid"/>
          </a:ln>
          <a:effectLst>
            <a:outerShdw blurRad="101600" dist="25400" dir="8100000" algn="bl" rotWithShape="0">
              <a:srgbClr val="000000">
                <a:alpha val="12000"/>
              </a:srgbClr>
            </a:outerShdw>
          </a:effectLst>
        </p:spPr>
      </p:sp>
      <p:sp>
        <p:nvSpPr>
          <p:cNvPr id="7" name="Text 5"/>
          <p:cNvSpPr/>
          <p:nvPr/>
        </p:nvSpPr>
        <p:spPr>
          <a:xfrm>
            <a:off x="365760" y="1371600"/>
            <a:ext cx="2724912" cy="502920"/>
          </a:xfrm>
          <a:prstGeom prst="rect">
            <a:avLst/>
          </a:prstGeom>
          <a:noFill/>
          <a:ln/>
        </p:spPr>
        <p:txBody>
          <a:bodyPr wrap="square" rtlCol="0" anchor="ctr"/>
          <a:lstStyle/>
          <a:p>
            <a:pPr marL="0" indent="0" algn="ctr">
              <a:buNone/>
            </a:pPr>
            <a:r>
              <a:rPr lang="en-US" sz="2800" b="1" dirty="0">
                <a:solidFill>
                  <a:srgbClr val="4FC3F7"/>
                </a:solidFill>
                <a:latin typeface="Cambria" pitchFamily="34" charset="0"/>
                <a:ea typeface="Cambria" pitchFamily="34" charset="-122"/>
                <a:cs typeface="Cambria" pitchFamily="34" charset="-120"/>
              </a:rPr>
              <a:t>01</a:t>
            </a:r>
            <a:endParaRPr lang="en-US" sz="2800" dirty="0"/>
          </a:p>
        </p:txBody>
      </p:sp>
      <p:sp>
        <p:nvSpPr>
          <p:cNvPr id="8" name="Text 6"/>
          <p:cNvSpPr/>
          <p:nvPr/>
        </p:nvSpPr>
        <p:spPr>
          <a:xfrm>
            <a:off x="502920" y="1920240"/>
            <a:ext cx="2450592" cy="347472"/>
          </a:xfrm>
          <a:prstGeom prst="rect">
            <a:avLst/>
          </a:prstGeom>
          <a:noFill/>
          <a:ln/>
        </p:spPr>
        <p:txBody>
          <a:bodyPr wrap="square" rtlCol="0" anchor="ctr"/>
          <a:lstStyle/>
          <a:p>
            <a:pPr marL="0" indent="0" algn="ctr">
              <a:buNone/>
            </a:pPr>
            <a:r>
              <a:rPr lang="en-US" sz="1300" b="1" dirty="0">
                <a:solidFill>
                  <a:srgbClr val="4FC3F7"/>
                </a:solidFill>
                <a:latin typeface="Calibri" pitchFamily="34" charset="0"/>
                <a:ea typeface="Calibri" pitchFamily="34" charset="-122"/>
                <a:cs typeface="Calibri" pitchFamily="34" charset="-120"/>
              </a:rPr>
              <a:t>Mechanochemical Pretreatment</a:t>
            </a:r>
            <a:endParaRPr lang="en-US" sz="1300" dirty="0"/>
          </a:p>
        </p:txBody>
      </p:sp>
      <p:sp>
        <p:nvSpPr>
          <p:cNvPr id="9" name="Text 7"/>
          <p:cNvSpPr/>
          <p:nvPr/>
        </p:nvSpPr>
        <p:spPr>
          <a:xfrm>
            <a:off x="502920" y="2331720"/>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Ball milling with Na₂CO₃ — no acids</a:t>
            </a:r>
            <a:endParaRPr lang="en-US" sz="1100" dirty="0"/>
          </a:p>
        </p:txBody>
      </p:sp>
      <p:sp>
        <p:nvSpPr>
          <p:cNvPr id="10" name="Text 8"/>
          <p:cNvSpPr/>
          <p:nvPr/>
        </p:nvSpPr>
        <p:spPr>
          <a:xfrm>
            <a:off x="502920" y="2843784"/>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&gt;95% Cu via water leaching at room temp</a:t>
            </a:r>
            <a:endParaRPr lang="en-US" sz="1100" dirty="0"/>
          </a:p>
        </p:txBody>
      </p:sp>
      <p:sp>
        <p:nvSpPr>
          <p:cNvPr id="11" name="Text 9"/>
          <p:cNvSpPr/>
          <p:nvPr/>
        </p:nvSpPr>
        <p:spPr>
          <a:xfrm>
            <a:off x="502920" y="3355848"/>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Ball milling equipment available in Maharashtra's industrial supply chain</a:t>
            </a:r>
            <a:endParaRPr lang="en-US" sz="1100" dirty="0"/>
          </a:p>
        </p:txBody>
      </p:sp>
      <p:sp>
        <p:nvSpPr>
          <p:cNvPr id="12" name="Text 10"/>
          <p:cNvSpPr/>
          <p:nvPr/>
        </p:nvSpPr>
        <p:spPr>
          <a:xfrm>
            <a:off x="502920" y="3867912"/>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Minimal training required</a:t>
            </a:r>
            <a:endParaRPr lang="en-US" sz="1100" dirty="0"/>
          </a:p>
        </p:txBody>
      </p:sp>
      <p:sp>
        <p:nvSpPr>
          <p:cNvPr id="13" name="Shape 11"/>
          <p:cNvSpPr/>
          <p:nvPr/>
        </p:nvSpPr>
        <p:spPr>
          <a:xfrm>
            <a:off x="3227832" y="804672"/>
            <a:ext cx="2724912" cy="502920"/>
          </a:xfrm>
          <a:prstGeom prst="rect">
            <a:avLst/>
          </a:prstGeom>
          <a:solidFill>
            <a:srgbClr val="4FC3F7"/>
          </a:solidFill>
          <a:ln w="12700">
            <a:solidFill>
              <a:srgbClr val="4FC3F7"/>
            </a:solidFill>
            <a:prstDash val="solid"/>
          </a:ln>
        </p:spPr>
      </p:sp>
      <p:sp>
        <p:nvSpPr>
          <p:cNvPr id="14" name="Text 12"/>
          <p:cNvSpPr/>
          <p:nvPr/>
        </p:nvSpPr>
        <p:spPr>
          <a:xfrm>
            <a:off x="3227832" y="804672"/>
            <a:ext cx="2724912" cy="50292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Phase 2</a:t>
            </a:r>
            <a:endParaRPr lang="en-US" sz="1300" dirty="0"/>
          </a:p>
          <a:p>
            <a:pPr marL="0" indent="0" algn="ctr">
              <a:buNone/>
            </a:pPr>
            <a:r>
              <a:rPr lang="en-US" sz="1300" b="1" dirty="0">
                <a:solidFill>
                  <a:srgbClr val="1E2761"/>
                </a:solidFill>
                <a:latin typeface="Calibri" pitchFamily="34" charset="0"/>
                <a:ea typeface="Calibri" pitchFamily="34" charset="-122"/>
                <a:cs typeface="Calibri" pitchFamily="34" charset="-120"/>
              </a:rPr>
              <a:t>(6–18 months)</a:t>
            </a:r>
            <a:endParaRPr lang="en-US" sz="1300" dirty="0"/>
          </a:p>
        </p:txBody>
      </p:sp>
      <p:sp>
        <p:nvSpPr>
          <p:cNvPr id="15" name="Shape 13"/>
          <p:cNvSpPr/>
          <p:nvPr/>
        </p:nvSpPr>
        <p:spPr>
          <a:xfrm>
            <a:off x="3227832" y="1307592"/>
            <a:ext cx="2724912" cy="3108960"/>
          </a:xfrm>
          <a:prstGeom prst="rect">
            <a:avLst/>
          </a:prstGeom>
          <a:solidFill>
            <a:srgbClr val="182057"/>
          </a:solidFill>
          <a:ln w="12700">
            <a:solidFill>
              <a:srgbClr val="2A3580"/>
            </a:solidFill>
            <a:prstDash val="solid"/>
          </a:ln>
          <a:effectLst>
            <a:outerShdw blurRad="101600" dist="25400" dir="8100000" algn="bl" rotWithShape="0">
              <a:srgbClr val="000000">
                <a:alpha val="12000"/>
              </a:srgbClr>
            </a:outerShdw>
          </a:effectLst>
        </p:spPr>
      </p:sp>
      <p:sp>
        <p:nvSpPr>
          <p:cNvPr id="16" name="Text 14"/>
          <p:cNvSpPr/>
          <p:nvPr/>
        </p:nvSpPr>
        <p:spPr>
          <a:xfrm>
            <a:off x="3227832" y="1371600"/>
            <a:ext cx="2724912" cy="502920"/>
          </a:xfrm>
          <a:prstGeom prst="rect">
            <a:avLst/>
          </a:prstGeom>
          <a:noFill/>
          <a:ln/>
        </p:spPr>
        <p:txBody>
          <a:bodyPr wrap="square" rtlCol="0" anchor="ctr"/>
          <a:lstStyle/>
          <a:p>
            <a:pPr marL="0" indent="0" algn="ctr">
              <a:buNone/>
            </a:pPr>
            <a:r>
              <a:rPr lang="en-US" sz="2800" b="1" dirty="0">
                <a:solidFill>
                  <a:srgbClr val="4FC3F7"/>
                </a:solidFill>
                <a:latin typeface="Cambria" pitchFamily="34" charset="0"/>
                <a:ea typeface="Cambria" pitchFamily="34" charset="-122"/>
                <a:cs typeface="Cambria" pitchFamily="34" charset="-120"/>
              </a:rPr>
              <a:t>02</a:t>
            </a:r>
            <a:endParaRPr lang="en-US" sz="2800" dirty="0"/>
          </a:p>
        </p:txBody>
      </p:sp>
      <p:sp>
        <p:nvSpPr>
          <p:cNvPr id="17" name="Text 15"/>
          <p:cNvSpPr/>
          <p:nvPr/>
        </p:nvSpPr>
        <p:spPr>
          <a:xfrm>
            <a:off x="3364992" y="1920240"/>
            <a:ext cx="2450592" cy="347472"/>
          </a:xfrm>
          <a:prstGeom prst="rect">
            <a:avLst/>
          </a:prstGeom>
          <a:noFill/>
          <a:ln/>
        </p:spPr>
        <p:txBody>
          <a:bodyPr wrap="square" rtlCol="0" anchor="ctr"/>
          <a:lstStyle/>
          <a:p>
            <a:pPr marL="0" indent="0" algn="ctr">
              <a:buNone/>
            </a:pPr>
            <a:r>
              <a:rPr lang="en-US" sz="1300" b="1" dirty="0">
                <a:solidFill>
                  <a:srgbClr val="4FC3F7"/>
                </a:solidFill>
                <a:latin typeface="Calibri" pitchFamily="34" charset="0"/>
                <a:ea typeface="Calibri" pitchFamily="34" charset="-122"/>
                <a:cs typeface="Calibri" pitchFamily="34" charset="-120"/>
              </a:rPr>
              <a:t>DES Gold &amp; Silver Recovery</a:t>
            </a:r>
            <a:endParaRPr lang="en-US" sz="1300" dirty="0"/>
          </a:p>
        </p:txBody>
      </p:sp>
      <p:sp>
        <p:nvSpPr>
          <p:cNvPr id="18" name="Text 16"/>
          <p:cNvSpPr/>
          <p:nvPr/>
        </p:nvSpPr>
        <p:spPr>
          <a:xfrm>
            <a:off x="3364992" y="2331720"/>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Deploy choline chloride / oxalic acid DES</a:t>
            </a:r>
            <a:endParaRPr lang="en-US" sz="1100" dirty="0"/>
          </a:p>
        </p:txBody>
      </p:sp>
      <p:sp>
        <p:nvSpPr>
          <p:cNvPr id="19" name="Text 17"/>
          <p:cNvSpPr/>
          <p:nvPr/>
        </p:nvSpPr>
        <p:spPr>
          <a:xfrm>
            <a:off x="3364992" y="2843784"/>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80–95% Au/Ag recovery from mechanically pre-treated feedstock</a:t>
            </a:r>
            <a:endParaRPr lang="en-US" sz="1100" dirty="0"/>
          </a:p>
        </p:txBody>
      </p:sp>
      <p:sp>
        <p:nvSpPr>
          <p:cNvPr id="20" name="Text 18"/>
          <p:cNvSpPr/>
          <p:nvPr/>
        </p:nvSpPr>
        <p:spPr>
          <a:xfrm>
            <a:off x="3364992" y="3355848"/>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Establish solvent recovery loop for economic sustainability</a:t>
            </a:r>
            <a:endParaRPr lang="en-US" sz="1100" dirty="0"/>
          </a:p>
        </p:txBody>
      </p:sp>
      <p:sp>
        <p:nvSpPr>
          <p:cNvPr id="21" name="Text 19"/>
          <p:cNvSpPr/>
          <p:nvPr/>
        </p:nvSpPr>
        <p:spPr>
          <a:xfrm>
            <a:off x="3364992" y="3867912"/>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Worker training on low-hazard chemistry</a:t>
            </a:r>
            <a:endParaRPr lang="en-US" sz="1100" dirty="0"/>
          </a:p>
        </p:txBody>
      </p:sp>
      <p:sp>
        <p:nvSpPr>
          <p:cNvPr id="22" name="Shape 20"/>
          <p:cNvSpPr/>
          <p:nvPr/>
        </p:nvSpPr>
        <p:spPr>
          <a:xfrm>
            <a:off x="6089904" y="804672"/>
            <a:ext cx="2724912" cy="502920"/>
          </a:xfrm>
          <a:prstGeom prst="rect">
            <a:avLst/>
          </a:prstGeom>
          <a:solidFill>
            <a:srgbClr val="028090"/>
          </a:solidFill>
          <a:ln w="12700">
            <a:solidFill>
              <a:srgbClr val="028090"/>
            </a:solidFill>
            <a:prstDash val="solid"/>
          </a:ln>
        </p:spPr>
      </p:sp>
      <p:sp>
        <p:nvSpPr>
          <p:cNvPr id="23" name="Text 21"/>
          <p:cNvSpPr/>
          <p:nvPr/>
        </p:nvSpPr>
        <p:spPr>
          <a:xfrm>
            <a:off x="6089904" y="804672"/>
            <a:ext cx="2724912"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3</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(18–36 months)</a:t>
            </a:r>
            <a:endParaRPr lang="en-US" sz="1300" dirty="0"/>
          </a:p>
        </p:txBody>
      </p:sp>
      <p:sp>
        <p:nvSpPr>
          <p:cNvPr id="24" name="Shape 22"/>
          <p:cNvSpPr/>
          <p:nvPr/>
        </p:nvSpPr>
        <p:spPr>
          <a:xfrm>
            <a:off x="6089904" y="1307592"/>
            <a:ext cx="2724912" cy="3108960"/>
          </a:xfrm>
          <a:prstGeom prst="rect">
            <a:avLst/>
          </a:prstGeom>
          <a:solidFill>
            <a:srgbClr val="182057"/>
          </a:solidFill>
          <a:ln w="12700">
            <a:solidFill>
              <a:srgbClr val="2A3580"/>
            </a:solidFill>
            <a:prstDash val="solid"/>
          </a:ln>
          <a:effectLst>
            <a:outerShdw blurRad="101600" dist="25400" dir="8100000" algn="bl" rotWithShape="0">
              <a:srgbClr val="000000">
                <a:alpha val="12000"/>
              </a:srgbClr>
            </a:outerShdw>
          </a:effectLst>
        </p:spPr>
      </p:sp>
      <p:sp>
        <p:nvSpPr>
          <p:cNvPr id="25" name="Text 23"/>
          <p:cNvSpPr/>
          <p:nvPr/>
        </p:nvSpPr>
        <p:spPr>
          <a:xfrm>
            <a:off x="6089904" y="1371600"/>
            <a:ext cx="2724912" cy="502920"/>
          </a:xfrm>
          <a:prstGeom prst="rect">
            <a:avLst/>
          </a:prstGeom>
          <a:noFill/>
          <a:ln/>
        </p:spPr>
        <p:txBody>
          <a:bodyPr wrap="square" rtlCol="0" anchor="ctr"/>
          <a:lstStyle/>
          <a:p>
            <a:pPr marL="0" indent="0" algn="ctr">
              <a:buNone/>
            </a:pPr>
            <a:r>
              <a:rPr lang="en-US" sz="2800" b="1" dirty="0">
                <a:solidFill>
                  <a:srgbClr val="028090"/>
                </a:solidFill>
                <a:latin typeface="Cambria" pitchFamily="34" charset="0"/>
                <a:ea typeface="Cambria" pitchFamily="34" charset="-122"/>
                <a:cs typeface="Cambria" pitchFamily="34" charset="-120"/>
              </a:rPr>
              <a:t>03</a:t>
            </a:r>
            <a:endParaRPr lang="en-US" sz="2800" dirty="0"/>
          </a:p>
        </p:txBody>
      </p:sp>
      <p:sp>
        <p:nvSpPr>
          <p:cNvPr id="26" name="Text 24"/>
          <p:cNvSpPr/>
          <p:nvPr/>
        </p:nvSpPr>
        <p:spPr>
          <a:xfrm>
            <a:off x="6227064" y="1920240"/>
            <a:ext cx="2450592" cy="347472"/>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Fungal Bioleaching for Base Metals</a:t>
            </a:r>
            <a:endParaRPr lang="en-US" sz="1300" dirty="0"/>
          </a:p>
        </p:txBody>
      </p:sp>
      <p:sp>
        <p:nvSpPr>
          <p:cNvPr id="27" name="Text 25"/>
          <p:cNvSpPr/>
          <p:nvPr/>
        </p:nvSpPr>
        <p:spPr>
          <a:xfrm>
            <a:off x="6227064" y="2331720"/>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Add Aspergillus niger bioleaching for Cu/Ni residues</a:t>
            </a:r>
            <a:endParaRPr lang="en-US" sz="1100" dirty="0"/>
          </a:p>
        </p:txBody>
      </p:sp>
      <p:sp>
        <p:nvSpPr>
          <p:cNvPr id="28" name="Text 26"/>
          <p:cNvSpPr/>
          <p:nvPr/>
        </p:nvSpPr>
        <p:spPr>
          <a:xfrm>
            <a:off x="6227064" y="2843784"/>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Near-neutral pH — no continuous acid dosing</a:t>
            </a:r>
            <a:endParaRPr lang="en-US" sz="1100" dirty="0"/>
          </a:p>
        </p:txBody>
      </p:sp>
      <p:sp>
        <p:nvSpPr>
          <p:cNvPr id="29" name="Text 27"/>
          <p:cNvSpPr/>
          <p:nvPr/>
        </p:nvSpPr>
        <p:spPr>
          <a:xfrm>
            <a:off x="6227064" y="3355848"/>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Nonmetallic fraction (70% PCB mass) valorised as composite filler</a:t>
            </a:r>
            <a:endParaRPr lang="en-US" sz="1100" dirty="0"/>
          </a:p>
        </p:txBody>
      </p:sp>
      <p:sp>
        <p:nvSpPr>
          <p:cNvPr id="30" name="Text 28"/>
          <p:cNvSpPr/>
          <p:nvPr/>
        </p:nvSpPr>
        <p:spPr>
          <a:xfrm>
            <a:off x="6227064" y="3867912"/>
            <a:ext cx="2450592" cy="457200"/>
          </a:xfrm>
          <a:prstGeom prst="rect">
            <a:avLst/>
          </a:prstGeom>
          <a:noFill/>
          <a:ln/>
        </p:spPr>
        <p:txBody>
          <a:bodyPr wrap="square" rtlCol="0" anchor="ctr"/>
          <a:lstStyle/>
          <a:p>
            <a:pPr marL="342900" indent="-342900">
              <a:buSzPct val="100000"/>
              <a:buChar char="•"/>
            </a:pPr>
            <a:r>
              <a:rPr lang="en-US" sz="1100" dirty="0">
                <a:solidFill>
                  <a:srgbClr val="CADCFC"/>
                </a:solidFill>
                <a:latin typeface="Calibri" pitchFamily="34" charset="0"/>
                <a:ea typeface="Calibri" pitchFamily="34" charset="-122"/>
                <a:cs typeface="Calibri" pitchFamily="34" charset="-120"/>
              </a:rPr>
              <a:t>Full hybrid circuit complete</a:t>
            </a:r>
            <a:endParaRPr lang="en-US" sz="1100" dirty="0"/>
          </a:p>
        </p:txBody>
      </p:sp>
      <p:sp>
        <p:nvSpPr>
          <p:cNvPr id="31" name="Shape 29"/>
          <p:cNvSpPr/>
          <p:nvPr/>
        </p:nvSpPr>
        <p:spPr>
          <a:xfrm>
            <a:off x="365760" y="4663440"/>
            <a:ext cx="8412480" cy="310896"/>
          </a:xfrm>
          <a:prstGeom prst="rect">
            <a:avLst/>
          </a:prstGeom>
          <a:solidFill>
            <a:srgbClr val="182057"/>
          </a:solidFill>
          <a:ln w="12700">
            <a:solidFill>
              <a:srgbClr val="2A3580"/>
            </a:solidFill>
            <a:prstDash val="solid"/>
          </a:ln>
        </p:spPr>
      </p:sp>
      <p:sp>
        <p:nvSpPr>
          <p:cNvPr id="32" name="Text 30"/>
          <p:cNvSpPr/>
          <p:nvPr/>
        </p:nvSpPr>
        <p:spPr>
          <a:xfrm>
            <a:off x="365760" y="4663440"/>
            <a:ext cx="8412480" cy="310896"/>
          </a:xfrm>
          <a:prstGeom prst="rect">
            <a:avLst/>
          </a:prstGeom>
          <a:noFill/>
          <a:ln/>
        </p:spPr>
        <p:txBody>
          <a:bodyPr wrap="square" rtlCol="0" anchor="ctr"/>
          <a:lstStyle/>
          <a:p>
            <a:pPr marL="0" indent="0" algn="ctr">
              <a:buNone/>
            </a:pPr>
            <a:r>
              <a:rPr lang="en-US" sz="1000" i="1" dirty="0">
                <a:solidFill>
                  <a:srgbClr val="4FC3F7"/>
                </a:solidFill>
                <a:latin typeface="Calibri" pitchFamily="34" charset="0"/>
                <a:ea typeface="Calibri" pitchFamily="34" charset="-122"/>
                <a:cs typeface="Calibri" pitchFamily="34" charset="-120"/>
              </a:rPr>
              <a:t>All phases align with E-Waste Management Rules 2022  |  Satisfies Green Chemistry Principles 3, 5, 7, 10, 12  |  No phase requires open burning or cyanide</a:t>
            </a:r>
            <a:endParaRPr lang="en-US" sz="1000" dirty="0"/>
          </a:p>
        </p:txBody>
      </p:sp>
      <p:sp>
        <p:nvSpPr>
          <p:cNvPr id="33" name="Shape 31"/>
          <p:cNvSpPr/>
          <p:nvPr/>
        </p:nvSpPr>
        <p:spPr>
          <a:xfrm>
            <a:off x="0" y="5065776"/>
            <a:ext cx="9144000" cy="77724"/>
          </a:xfrm>
          <a:prstGeom prst="rect">
            <a:avLst/>
          </a:prstGeom>
          <a:solidFill>
            <a:srgbClr val="4FC3F7"/>
          </a:solidFill>
          <a:ln w="12700">
            <a:solidFill>
              <a:srgbClr val="4FC3F7"/>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48640"/>
          </a:xfrm>
          <a:prstGeom prst="rect">
            <a:avLst/>
          </a:prstGeom>
          <a:noFill/>
          <a:ln/>
        </p:spPr>
        <p:txBody>
          <a:bodyPr wrap="square" rtlCol="0" anchor="ctr"/>
          <a:lstStyle/>
          <a:p>
            <a:pPr marL="0" indent="0">
              <a:buNone/>
            </a:pPr>
            <a:r>
              <a:rPr lang="en-US" sz="2800" b="1" dirty="0">
                <a:solidFill>
                  <a:srgbClr val="1A1A2E"/>
                </a:solidFill>
                <a:latin typeface="Cambria" pitchFamily="34" charset="0"/>
                <a:ea typeface="Cambria" pitchFamily="34" charset="-122"/>
                <a:cs typeface="Cambria" pitchFamily="34" charset="-120"/>
              </a:rPr>
              <a:t>Research Gaps &amp; Future Work</a:t>
            </a:r>
            <a:endParaRPr lang="en-US" sz="2800" dirty="0"/>
          </a:p>
        </p:txBody>
      </p:sp>
      <p:sp>
        <p:nvSpPr>
          <p:cNvPr id="3" name="Text 1"/>
          <p:cNvSpPr/>
          <p:nvPr/>
        </p:nvSpPr>
        <p:spPr>
          <a:xfrm>
            <a:off x="457200" y="658368"/>
            <a:ext cx="8229600" cy="25603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Critical gaps identified — each represents a direct opportunity for original applied chemistry research</a:t>
            </a:r>
            <a:endParaRPr lang="en-US" sz="1200" dirty="0"/>
          </a:p>
        </p:txBody>
      </p:sp>
      <p:sp>
        <p:nvSpPr>
          <p:cNvPr id="4" name="Shape 2"/>
          <p:cNvSpPr/>
          <p:nvPr/>
        </p:nvSpPr>
        <p:spPr>
          <a:xfrm>
            <a:off x="365760" y="1005840"/>
            <a:ext cx="4160520" cy="17830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5" name="Shape 3"/>
          <p:cNvSpPr/>
          <p:nvPr/>
        </p:nvSpPr>
        <p:spPr>
          <a:xfrm>
            <a:off x="365760" y="1005840"/>
            <a:ext cx="914400" cy="237744"/>
          </a:xfrm>
          <a:prstGeom prst="rect">
            <a:avLst/>
          </a:prstGeom>
          <a:solidFill>
            <a:srgbClr val="B71C1C"/>
          </a:solidFill>
          <a:ln w="12700">
            <a:solidFill>
              <a:srgbClr val="B71C1C"/>
            </a:solidFill>
            <a:prstDash val="solid"/>
          </a:ln>
        </p:spPr>
      </p:sp>
      <p:sp>
        <p:nvSpPr>
          <p:cNvPr id="6" name="Text 4"/>
          <p:cNvSpPr/>
          <p:nvPr/>
        </p:nvSpPr>
        <p:spPr>
          <a:xfrm>
            <a:off x="365760" y="1005840"/>
            <a:ext cx="91440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a:t>
            </a:r>
            <a:endParaRPr lang="en-US" sz="1000" dirty="0"/>
          </a:p>
        </p:txBody>
      </p:sp>
      <p:sp>
        <p:nvSpPr>
          <p:cNvPr id="7" name="Text 5"/>
          <p:cNvSpPr/>
          <p:nvPr/>
        </p:nvSpPr>
        <p:spPr>
          <a:xfrm>
            <a:off x="502920" y="1280160"/>
            <a:ext cx="38862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Indian Feedstock Characterisation</a:t>
            </a:r>
            <a:endParaRPr lang="en-US" sz="1300" dirty="0"/>
          </a:p>
        </p:txBody>
      </p:sp>
      <p:sp>
        <p:nvSpPr>
          <p:cNvPr id="8" name="Text 6"/>
          <p:cNvSpPr/>
          <p:nvPr/>
        </p:nvSpPr>
        <p:spPr>
          <a:xfrm>
            <a:off x="502920" y="1554480"/>
            <a:ext cx="388620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All reviewed bioleaching and DES studies use European or generalised feedstock. Indian consumer electronics differ in solder alloy composition and polymer substrate type. Whether published recovery efficiencies translate to Indian feedstock is entirely unestablished.</a:t>
            </a:r>
            <a:endParaRPr lang="en-US" sz="1050" dirty="0"/>
          </a:p>
        </p:txBody>
      </p:sp>
      <p:sp>
        <p:nvSpPr>
          <p:cNvPr id="9" name="Shape 7"/>
          <p:cNvSpPr/>
          <p:nvPr/>
        </p:nvSpPr>
        <p:spPr>
          <a:xfrm>
            <a:off x="502920" y="2331720"/>
            <a:ext cx="3886200" cy="347472"/>
          </a:xfrm>
          <a:prstGeom prst="rect">
            <a:avLst/>
          </a:prstGeom>
          <a:solidFill>
            <a:srgbClr val="EEF2FF"/>
          </a:solidFill>
          <a:ln w="12700">
            <a:solidFill>
              <a:srgbClr val="D1D5DB"/>
            </a:solidFill>
            <a:prstDash val="solid"/>
          </a:ln>
        </p:spPr>
      </p:sp>
      <p:sp>
        <p:nvSpPr>
          <p:cNvPr id="10" name="Text 8"/>
          <p:cNvSpPr/>
          <p:nvPr/>
        </p:nvSpPr>
        <p:spPr>
          <a:xfrm>
            <a:off x="566928" y="2350008"/>
            <a:ext cx="3749040" cy="310896"/>
          </a:xfrm>
          <a:prstGeom prst="rect">
            <a:avLst/>
          </a:prstGeom>
          <a:noFill/>
          <a:ln/>
        </p:spPr>
        <p:txBody>
          <a:bodyPr wrap="square"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Proposed study: Characterise Solapur e-waste stream composition, then run DES and bioleaching trials on local feedstock.</a:t>
            </a:r>
            <a:endParaRPr lang="en-US" sz="1000" dirty="0"/>
          </a:p>
        </p:txBody>
      </p:sp>
      <p:sp>
        <p:nvSpPr>
          <p:cNvPr id="11" name="Shape 9"/>
          <p:cNvSpPr/>
          <p:nvPr/>
        </p:nvSpPr>
        <p:spPr>
          <a:xfrm>
            <a:off x="4754880" y="1005840"/>
            <a:ext cx="4160520" cy="17830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2" name="Shape 10"/>
          <p:cNvSpPr/>
          <p:nvPr/>
        </p:nvSpPr>
        <p:spPr>
          <a:xfrm>
            <a:off x="4754880" y="1005840"/>
            <a:ext cx="914400" cy="237744"/>
          </a:xfrm>
          <a:prstGeom prst="rect">
            <a:avLst/>
          </a:prstGeom>
          <a:solidFill>
            <a:srgbClr val="B71C1C"/>
          </a:solidFill>
          <a:ln w="12700">
            <a:solidFill>
              <a:srgbClr val="B71C1C"/>
            </a:solidFill>
            <a:prstDash val="solid"/>
          </a:ln>
        </p:spPr>
      </p:sp>
      <p:sp>
        <p:nvSpPr>
          <p:cNvPr id="13" name="Text 11"/>
          <p:cNvSpPr/>
          <p:nvPr/>
        </p:nvSpPr>
        <p:spPr>
          <a:xfrm>
            <a:off x="4754880" y="1005840"/>
            <a:ext cx="91440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a:t>
            </a:r>
            <a:endParaRPr lang="en-US" sz="1000" dirty="0"/>
          </a:p>
        </p:txBody>
      </p:sp>
      <p:sp>
        <p:nvSpPr>
          <p:cNvPr id="14" name="Text 12"/>
          <p:cNvSpPr/>
          <p:nvPr/>
        </p:nvSpPr>
        <p:spPr>
          <a:xfrm>
            <a:off x="4892040" y="1280160"/>
            <a:ext cx="38862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Techno-Economic Analysis for Informal Sector</a:t>
            </a:r>
            <a:endParaRPr lang="en-US" sz="1300" dirty="0"/>
          </a:p>
        </p:txBody>
      </p:sp>
      <p:sp>
        <p:nvSpPr>
          <p:cNvPr id="15" name="Text 13"/>
          <p:cNvSpPr/>
          <p:nvPr/>
        </p:nvSpPr>
        <p:spPr>
          <a:xfrm>
            <a:off x="4892040" y="1554480"/>
            <a:ext cx="388620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No cost-benefit study exists for DES or bioleaching implementation at the scale and infrastructure level of Solapur's informal clusters. Cucchiella et al. (2015) established green chemistry reduces costs by 30–40% vs conventional processing — but this was not for Indian informal operations.</a:t>
            </a:r>
            <a:endParaRPr lang="en-US" sz="1050" dirty="0"/>
          </a:p>
        </p:txBody>
      </p:sp>
      <p:sp>
        <p:nvSpPr>
          <p:cNvPr id="16" name="Shape 14"/>
          <p:cNvSpPr/>
          <p:nvPr/>
        </p:nvSpPr>
        <p:spPr>
          <a:xfrm>
            <a:off x="4892040" y="2331720"/>
            <a:ext cx="3886200" cy="347472"/>
          </a:xfrm>
          <a:prstGeom prst="rect">
            <a:avLst/>
          </a:prstGeom>
          <a:solidFill>
            <a:srgbClr val="EEF2FF"/>
          </a:solidFill>
          <a:ln w="12700">
            <a:solidFill>
              <a:srgbClr val="D1D5DB"/>
            </a:solidFill>
            <a:prstDash val="solid"/>
          </a:ln>
        </p:spPr>
      </p:sp>
      <p:sp>
        <p:nvSpPr>
          <p:cNvPr id="17" name="Text 15"/>
          <p:cNvSpPr/>
          <p:nvPr/>
        </p:nvSpPr>
        <p:spPr>
          <a:xfrm>
            <a:off x="4956048" y="2350008"/>
            <a:ext cx="3749040" cy="310896"/>
          </a:xfrm>
          <a:prstGeom prst="rect">
            <a:avLst/>
          </a:prstGeom>
          <a:noFill/>
          <a:ln/>
        </p:spPr>
        <p:txBody>
          <a:bodyPr wrap="square"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Proposed study: Model capital and operating costs for a 5 tonne/day mechanochemical + DES pilot at a Solapur cluster.</a:t>
            </a:r>
            <a:endParaRPr lang="en-US" sz="1000" dirty="0"/>
          </a:p>
        </p:txBody>
      </p:sp>
      <p:sp>
        <p:nvSpPr>
          <p:cNvPr id="18" name="Shape 16"/>
          <p:cNvSpPr/>
          <p:nvPr/>
        </p:nvSpPr>
        <p:spPr>
          <a:xfrm>
            <a:off x="365760" y="2971800"/>
            <a:ext cx="4160520" cy="17830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19" name="Shape 17"/>
          <p:cNvSpPr/>
          <p:nvPr/>
        </p:nvSpPr>
        <p:spPr>
          <a:xfrm>
            <a:off x="365760" y="2971800"/>
            <a:ext cx="914400" cy="237744"/>
          </a:xfrm>
          <a:prstGeom prst="rect">
            <a:avLst/>
          </a:prstGeom>
          <a:solidFill>
            <a:srgbClr val="E65100"/>
          </a:solidFill>
          <a:ln w="12700">
            <a:solidFill>
              <a:srgbClr val="E65100"/>
            </a:solidFill>
            <a:prstDash val="solid"/>
          </a:ln>
        </p:spPr>
      </p:sp>
      <p:sp>
        <p:nvSpPr>
          <p:cNvPr id="20" name="Text 18"/>
          <p:cNvSpPr/>
          <p:nvPr/>
        </p:nvSpPr>
        <p:spPr>
          <a:xfrm>
            <a:off x="365760" y="2971800"/>
            <a:ext cx="91440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1" name="Text 19"/>
          <p:cNvSpPr/>
          <p:nvPr/>
        </p:nvSpPr>
        <p:spPr>
          <a:xfrm>
            <a:off x="502920" y="3246120"/>
            <a:ext cx="38862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Solapur-Specific Health Impact Assessment</a:t>
            </a:r>
            <a:endParaRPr lang="en-US" sz="1300" dirty="0"/>
          </a:p>
        </p:txBody>
      </p:sp>
      <p:sp>
        <p:nvSpPr>
          <p:cNvPr id="22" name="Text 20"/>
          <p:cNvSpPr/>
          <p:nvPr/>
        </p:nvSpPr>
        <p:spPr>
          <a:xfrm>
            <a:off x="502920" y="3520440"/>
            <a:ext cx="388620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No published occupational health data exists for Solapur's informal e-waste workforce specifically. Delhi and Mumbai studies cannot be assumed representative of Solapur's operations, workforce profile, or chemical exposure patterns.</a:t>
            </a:r>
            <a:endParaRPr lang="en-US" sz="1050" dirty="0"/>
          </a:p>
        </p:txBody>
      </p:sp>
      <p:sp>
        <p:nvSpPr>
          <p:cNvPr id="23" name="Shape 21"/>
          <p:cNvSpPr/>
          <p:nvPr/>
        </p:nvSpPr>
        <p:spPr>
          <a:xfrm>
            <a:off x="502920" y="4297680"/>
            <a:ext cx="3886200" cy="347472"/>
          </a:xfrm>
          <a:prstGeom prst="rect">
            <a:avLst/>
          </a:prstGeom>
          <a:solidFill>
            <a:srgbClr val="EEF2FF"/>
          </a:solidFill>
          <a:ln w="12700">
            <a:solidFill>
              <a:srgbClr val="D1D5DB"/>
            </a:solidFill>
            <a:prstDash val="solid"/>
          </a:ln>
        </p:spPr>
      </p:sp>
      <p:sp>
        <p:nvSpPr>
          <p:cNvPr id="24" name="Text 22"/>
          <p:cNvSpPr/>
          <p:nvPr/>
        </p:nvSpPr>
        <p:spPr>
          <a:xfrm>
            <a:off x="566928" y="4315968"/>
            <a:ext cx="3749040" cy="310896"/>
          </a:xfrm>
          <a:prstGeom prst="rect">
            <a:avLst/>
          </a:prstGeom>
          <a:noFill/>
          <a:ln/>
        </p:spPr>
        <p:txBody>
          <a:bodyPr wrap="square"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Proposed study: Blood heavy metal screening + occupational health survey for informal dismantlers in Solapur.</a:t>
            </a:r>
            <a:endParaRPr lang="en-US" sz="1000" dirty="0"/>
          </a:p>
        </p:txBody>
      </p:sp>
      <p:sp>
        <p:nvSpPr>
          <p:cNvPr id="25" name="Shape 23"/>
          <p:cNvSpPr/>
          <p:nvPr/>
        </p:nvSpPr>
        <p:spPr>
          <a:xfrm>
            <a:off x="4754880" y="2971800"/>
            <a:ext cx="4160520" cy="17830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26" name="Shape 24"/>
          <p:cNvSpPr/>
          <p:nvPr/>
        </p:nvSpPr>
        <p:spPr>
          <a:xfrm>
            <a:off x="4754880" y="2971800"/>
            <a:ext cx="914400" cy="237744"/>
          </a:xfrm>
          <a:prstGeom prst="rect">
            <a:avLst/>
          </a:prstGeom>
          <a:solidFill>
            <a:srgbClr val="E65100"/>
          </a:solidFill>
          <a:ln w="12700">
            <a:solidFill>
              <a:srgbClr val="E65100"/>
            </a:solidFill>
            <a:prstDash val="solid"/>
          </a:ln>
        </p:spPr>
      </p:sp>
      <p:sp>
        <p:nvSpPr>
          <p:cNvPr id="27" name="Text 25"/>
          <p:cNvSpPr/>
          <p:nvPr/>
        </p:nvSpPr>
        <p:spPr>
          <a:xfrm>
            <a:off x="4754880" y="2971800"/>
            <a:ext cx="914400"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8" name="Text 26"/>
          <p:cNvSpPr/>
          <p:nvPr/>
        </p:nvSpPr>
        <p:spPr>
          <a:xfrm>
            <a:off x="4892040" y="3246120"/>
            <a:ext cx="3886200" cy="25603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E-Waste Rules 2022 Enforcement Analysis</a:t>
            </a:r>
            <a:endParaRPr lang="en-US" sz="1300" dirty="0"/>
          </a:p>
        </p:txBody>
      </p:sp>
      <p:sp>
        <p:nvSpPr>
          <p:cNvPr id="29" name="Text 27"/>
          <p:cNvSpPr/>
          <p:nvPr/>
        </p:nvSpPr>
        <p:spPr>
          <a:xfrm>
            <a:off x="4892040" y="3520440"/>
            <a:ext cx="3886200" cy="74980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Garlapati (2016) documented state-level policy inconsistency as the binding constraint on e-waste formalisation in India. Whether E-Waste Rules 2022 enforcement mechanisms reach Tier-2 cities like Solapur has not been studied.</a:t>
            </a:r>
            <a:endParaRPr lang="en-US" sz="1050" dirty="0"/>
          </a:p>
        </p:txBody>
      </p:sp>
      <p:sp>
        <p:nvSpPr>
          <p:cNvPr id="30" name="Shape 28"/>
          <p:cNvSpPr/>
          <p:nvPr/>
        </p:nvSpPr>
        <p:spPr>
          <a:xfrm>
            <a:off x="4892040" y="4297680"/>
            <a:ext cx="3886200" cy="347472"/>
          </a:xfrm>
          <a:prstGeom prst="rect">
            <a:avLst/>
          </a:prstGeom>
          <a:solidFill>
            <a:srgbClr val="EEF2FF"/>
          </a:solidFill>
          <a:ln w="12700">
            <a:solidFill>
              <a:srgbClr val="D1D5DB"/>
            </a:solidFill>
            <a:prstDash val="solid"/>
          </a:ln>
        </p:spPr>
      </p:sp>
      <p:sp>
        <p:nvSpPr>
          <p:cNvPr id="31" name="Text 29"/>
          <p:cNvSpPr/>
          <p:nvPr/>
        </p:nvSpPr>
        <p:spPr>
          <a:xfrm>
            <a:off x="4956048" y="4315968"/>
            <a:ext cx="3749040" cy="310896"/>
          </a:xfrm>
          <a:prstGeom prst="rect">
            <a:avLst/>
          </a:prstGeom>
          <a:noFill/>
          <a:ln/>
        </p:spPr>
        <p:txBody>
          <a:bodyPr wrap="square"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Proposed study: Interview-based analysis of EPR compliance audit reach in Maharashtra Tier-2 cities.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2858</Words>
  <Application>Microsoft Office PowerPoint</Application>
  <PresentationFormat>On-screen Show (16:9)</PresentationFormat>
  <Paragraphs>422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Safer E-Waste Dismantling in Solapur</dc:title>
  <dc:subject>PptxGenJS Presentation</dc:subject>
  <dc:creator>Applied Chemistry for Engineers</dc:creator>
  <cp:lastModifiedBy>Sudarshan Bhadule</cp:lastModifiedBy>
  <cp:revision>4</cp:revision>
  <dcterms:created xsi:type="dcterms:W3CDTF">2026-03-13T07:32:24Z</dcterms:created>
  <dcterms:modified xsi:type="dcterms:W3CDTF">2026-03-13T08:15:35Z</dcterms:modified>
</cp:coreProperties>
</file>